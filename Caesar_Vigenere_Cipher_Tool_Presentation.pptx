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Python tool with CLI and Tkinter GUI that encrypts, decrypts and automatically breaks Caesar and Vigenère ciphers using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Frequency patterns survive both Caesar and Vigenère encryption. That is the central weakness the project demonstrates.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LABMENTIX  |  CYBERSECURITY TRAINING PROGRAM</a:t>
            </a:r>
            <a:endParaRPr lang="en-US" sz="1100" dirty="0"/>
          </a:p>
        </p:txBody>
      </p:sp>
      <p:sp>
        <p:nvSpPr>
          <p:cNvPr id="3" name="Text 1"/>
          <p:cNvSpPr txBox="1"/>
          <p:nvPr/>
        </p:nvSpPr>
        <p:spPr>
          <a:xfrm>
            <a:off x="548640" y="960120"/>
            <a:ext cx="804672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Caesar &amp; Vigenère</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Cipher Tool</a:t>
            </a:r>
            <a:endParaRPr lang="en-US" sz="4600" dirty="0"/>
          </a:p>
        </p:txBody>
      </p:sp>
      <p:sp>
        <p:nvSpPr>
          <p:cNvPr id="4" name="Text 2"/>
          <p:cNvSpPr txBox="1"/>
          <p:nvPr/>
        </p:nvSpPr>
        <p:spPr>
          <a:xfrm>
            <a:off x="548640" y="2560320"/>
            <a:ext cx="8046720" cy="365760"/>
          </a:xfrm>
          <a:prstGeom prst="rect">
            <a:avLst/>
          </a:prstGeom>
          <a:noFill/>
          <a:ln/>
        </p:spPr>
        <p:txBody>
          <a:bodyPr wrap="square" lIns="0" tIns="0" rIns="0" bIns="0" rtlCol="0" anchor="ctr"/>
          <a:lstStyle/>
          <a:p>
            <a:pPr indent="0" marL="0">
              <a:buNone/>
            </a:pPr>
            <a:r>
              <a:rPr lang="en-US" sz="1800" dirty="0">
                <a:solidFill>
                  <a:srgbClr val="B8C7D6"/>
                </a:solidFill>
                <a:latin typeface="Calibri" pitchFamily="34" charset="0"/>
                <a:ea typeface="Calibri" pitchFamily="34" charset="-122"/>
                <a:cs typeface="Calibri" pitchFamily="34" charset="-120"/>
              </a:rPr>
              <a:t>Classical cryptography, broken by statistics</a:t>
            </a:r>
            <a:endParaRPr lang="en-US" sz="1800" dirty="0"/>
          </a:p>
        </p:txBody>
      </p:sp>
      <p:sp>
        <p:nvSpPr>
          <p:cNvPr id="5" name="Text 3"/>
          <p:cNvSpPr txBox="1"/>
          <p:nvPr/>
        </p:nvSpPr>
        <p:spPr>
          <a:xfrm>
            <a:off x="548640" y="3090672"/>
            <a:ext cx="1828800" cy="201168"/>
          </a:xfrm>
          <a:prstGeom prst="rect">
            <a:avLst/>
          </a:prstGeom>
          <a:noFill/>
          <a:ln/>
        </p:spPr>
        <p:txBody>
          <a:bodyPr wrap="square" lIns="0" tIns="0" rIns="0" bIns="0" rtlCol="0" anchor="ctr"/>
          <a:lstStyle/>
          <a:p>
            <a:pPr indent="0" marL="0">
              <a:buNone/>
            </a:pPr>
            <a:r>
              <a:rPr lang="en-US" sz="900" b="1" spc="200" kern="0" dirty="0">
                <a:solidFill>
                  <a:srgbClr val="8FA3B8"/>
                </a:solidFill>
                <a:latin typeface="Calibri" pitchFamily="34" charset="0"/>
                <a:ea typeface="Calibri" pitchFamily="34" charset="-122"/>
                <a:cs typeface="Calibri" pitchFamily="34" charset="-120"/>
              </a:rPr>
              <a:t>PLAINTEXT</a:t>
            </a:r>
            <a:endParaRPr lang="en-US" sz="900" dirty="0"/>
          </a:p>
        </p:txBody>
      </p:sp>
      <p:sp>
        <p:nvSpPr>
          <p:cNvPr id="6" name="Text 4"/>
          <p:cNvSpPr txBox="1"/>
          <p:nvPr/>
        </p:nvSpPr>
        <p:spPr>
          <a:xfrm>
            <a:off x="4389120" y="3680460"/>
            <a:ext cx="1280160" cy="274320"/>
          </a:xfrm>
          <a:prstGeom prst="rect">
            <a:avLst/>
          </a:prstGeom>
          <a:noFill/>
          <a:ln/>
        </p:spPr>
        <p:txBody>
          <a:bodyPr wrap="square" lIns="0" tIns="0" rIns="0" bIns="0" rtlCol="0" anchor="ctr"/>
          <a:lstStyle/>
          <a:p>
            <a:pPr indent="0" marL="0">
              <a:buNone/>
            </a:pPr>
            <a:r>
              <a:rPr lang="en-US" sz="1100" b="1" dirty="0">
                <a:solidFill>
                  <a:srgbClr val="F4B942"/>
                </a:solidFill>
                <a:latin typeface="Calibri" pitchFamily="34" charset="0"/>
                <a:ea typeface="Calibri" pitchFamily="34" charset="-122"/>
                <a:cs typeface="Calibri" pitchFamily="34" charset="-120"/>
              </a:rPr>
              <a:t>SHIFT +11</a:t>
            </a:r>
            <a:endParaRPr lang="en-US" sz="1100" dirty="0"/>
          </a:p>
        </p:txBody>
      </p:sp>
      <p:sp>
        <p:nvSpPr>
          <p:cNvPr id="7" name="Shape 5"/>
          <p:cNvSpPr/>
          <p:nvPr/>
        </p:nvSpPr>
        <p:spPr>
          <a:xfrm>
            <a:off x="548640" y="3337560"/>
            <a:ext cx="457200" cy="457200"/>
          </a:xfrm>
          <a:prstGeom prst="roundRect">
            <a:avLst>
              <a:gd name="adj" fmla="val 16000"/>
            </a:avLst>
          </a:prstGeom>
          <a:solidFill>
            <a:srgbClr val="16283F"/>
          </a:solidFill>
          <a:ln w="12700">
            <a:solidFill>
              <a:srgbClr val="2B4463"/>
            </a:solidFill>
            <a:prstDash val="solid"/>
          </a:ln>
        </p:spPr>
      </p:sp>
      <p:sp>
        <p:nvSpPr>
          <p:cNvPr id="8" name="Text 6"/>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T</a:t>
            </a:r>
            <a:endParaRPr lang="en-US" sz="1800" dirty="0"/>
          </a:p>
        </p:txBody>
      </p:sp>
      <p:sp>
        <p:nvSpPr>
          <p:cNvPr id="9" name="Shape 7"/>
          <p:cNvSpPr/>
          <p:nvPr/>
        </p:nvSpPr>
        <p:spPr>
          <a:xfrm>
            <a:off x="1078992" y="3337560"/>
            <a:ext cx="457200" cy="457200"/>
          </a:xfrm>
          <a:prstGeom prst="roundRect">
            <a:avLst>
              <a:gd name="adj" fmla="val 16000"/>
            </a:avLst>
          </a:prstGeom>
          <a:solidFill>
            <a:srgbClr val="16283F"/>
          </a:solidFill>
          <a:ln w="12700">
            <a:solidFill>
              <a:srgbClr val="2B4463"/>
            </a:solidFill>
            <a:prstDash val="solid"/>
          </a:ln>
        </p:spPr>
      </p:sp>
      <p:sp>
        <p:nvSpPr>
          <p:cNvPr id="10" name="Text 8"/>
          <p:cNvSpPr txBox="1"/>
          <p:nvPr/>
        </p:nvSpPr>
        <p:spPr>
          <a:xfrm>
            <a:off x="1078992"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R</a:t>
            </a:r>
            <a:endParaRPr lang="en-US" sz="1800" dirty="0"/>
          </a:p>
        </p:txBody>
      </p:sp>
      <p:sp>
        <p:nvSpPr>
          <p:cNvPr id="11" name="Shape 9"/>
          <p:cNvSpPr/>
          <p:nvPr/>
        </p:nvSpPr>
        <p:spPr>
          <a:xfrm>
            <a:off x="1609344" y="3337560"/>
            <a:ext cx="457200" cy="457200"/>
          </a:xfrm>
          <a:prstGeom prst="roundRect">
            <a:avLst>
              <a:gd name="adj" fmla="val 16000"/>
            </a:avLst>
          </a:prstGeom>
          <a:solidFill>
            <a:srgbClr val="16283F"/>
          </a:solidFill>
          <a:ln w="12700">
            <a:solidFill>
              <a:srgbClr val="2B4463"/>
            </a:solidFill>
            <a:prstDash val="solid"/>
          </a:ln>
        </p:spPr>
      </p:sp>
      <p:sp>
        <p:nvSpPr>
          <p:cNvPr id="12" name="Text 10"/>
          <p:cNvSpPr txBox="1"/>
          <p:nvPr/>
        </p:nvSpPr>
        <p:spPr>
          <a:xfrm>
            <a:off x="1609344"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A</a:t>
            </a:r>
            <a:endParaRPr lang="en-US" sz="1800" dirty="0"/>
          </a:p>
        </p:txBody>
      </p:sp>
      <p:sp>
        <p:nvSpPr>
          <p:cNvPr id="13" name="Shape 11"/>
          <p:cNvSpPr/>
          <p:nvPr/>
        </p:nvSpPr>
        <p:spPr>
          <a:xfrm>
            <a:off x="2139696" y="3337560"/>
            <a:ext cx="457200" cy="457200"/>
          </a:xfrm>
          <a:prstGeom prst="roundRect">
            <a:avLst>
              <a:gd name="adj" fmla="val 16000"/>
            </a:avLst>
          </a:prstGeom>
          <a:solidFill>
            <a:srgbClr val="16283F"/>
          </a:solidFill>
          <a:ln w="12700">
            <a:solidFill>
              <a:srgbClr val="2B4463"/>
            </a:solidFill>
            <a:prstDash val="solid"/>
          </a:ln>
        </p:spPr>
      </p:sp>
      <p:sp>
        <p:nvSpPr>
          <p:cNvPr id="14" name="Text 12"/>
          <p:cNvSpPr txBox="1"/>
          <p:nvPr/>
        </p:nvSpPr>
        <p:spPr>
          <a:xfrm>
            <a:off x="2139696"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I</a:t>
            </a:r>
            <a:endParaRPr lang="en-US" sz="1800" dirty="0"/>
          </a:p>
        </p:txBody>
      </p:sp>
      <p:sp>
        <p:nvSpPr>
          <p:cNvPr id="15" name="Shape 13"/>
          <p:cNvSpPr/>
          <p:nvPr/>
        </p:nvSpPr>
        <p:spPr>
          <a:xfrm>
            <a:off x="2670048" y="3337560"/>
            <a:ext cx="457200" cy="457200"/>
          </a:xfrm>
          <a:prstGeom prst="roundRect">
            <a:avLst>
              <a:gd name="adj" fmla="val 16000"/>
            </a:avLst>
          </a:prstGeom>
          <a:solidFill>
            <a:srgbClr val="16283F"/>
          </a:solidFill>
          <a:ln w="12700">
            <a:solidFill>
              <a:srgbClr val="2B4463"/>
            </a:solidFill>
            <a:prstDash val="solid"/>
          </a:ln>
        </p:spPr>
      </p:sp>
      <p:sp>
        <p:nvSpPr>
          <p:cNvPr id="16" name="Text 14"/>
          <p:cNvSpPr txBox="1"/>
          <p:nvPr/>
        </p:nvSpPr>
        <p:spPr>
          <a:xfrm>
            <a:off x="2670048"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N</a:t>
            </a:r>
            <a:endParaRPr lang="en-US" sz="1800" dirty="0"/>
          </a:p>
        </p:txBody>
      </p:sp>
      <p:sp>
        <p:nvSpPr>
          <p:cNvPr id="17" name="Shape 15"/>
          <p:cNvSpPr/>
          <p:nvPr/>
        </p:nvSpPr>
        <p:spPr>
          <a:xfrm>
            <a:off x="3200400" y="3337560"/>
            <a:ext cx="457200" cy="457200"/>
          </a:xfrm>
          <a:prstGeom prst="roundRect">
            <a:avLst>
              <a:gd name="adj" fmla="val 16000"/>
            </a:avLst>
          </a:prstGeom>
          <a:solidFill>
            <a:srgbClr val="16283F"/>
          </a:solidFill>
          <a:ln w="12700">
            <a:solidFill>
              <a:srgbClr val="2B4463"/>
            </a:solidFill>
            <a:prstDash val="solid"/>
          </a:ln>
        </p:spPr>
      </p:sp>
      <p:sp>
        <p:nvSpPr>
          <p:cNvPr id="18" name="Text 16"/>
          <p:cNvSpPr txBox="1"/>
          <p:nvPr/>
        </p:nvSpPr>
        <p:spPr>
          <a:xfrm>
            <a:off x="3200400"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E</a:t>
            </a:r>
            <a:endParaRPr lang="en-US" sz="1800" dirty="0"/>
          </a:p>
        </p:txBody>
      </p:sp>
      <p:sp>
        <p:nvSpPr>
          <p:cNvPr id="19" name="Shape 17"/>
          <p:cNvSpPr/>
          <p:nvPr/>
        </p:nvSpPr>
        <p:spPr>
          <a:xfrm>
            <a:off x="3730752" y="3337560"/>
            <a:ext cx="457200" cy="457200"/>
          </a:xfrm>
          <a:prstGeom prst="roundRect">
            <a:avLst>
              <a:gd name="adj" fmla="val 16000"/>
            </a:avLst>
          </a:prstGeom>
          <a:solidFill>
            <a:srgbClr val="16283F"/>
          </a:solidFill>
          <a:ln w="12700">
            <a:solidFill>
              <a:srgbClr val="2B4463"/>
            </a:solidFill>
            <a:prstDash val="solid"/>
          </a:ln>
        </p:spPr>
      </p:sp>
      <p:sp>
        <p:nvSpPr>
          <p:cNvPr id="20" name="Text 18"/>
          <p:cNvSpPr txBox="1"/>
          <p:nvPr/>
        </p:nvSpPr>
        <p:spPr>
          <a:xfrm>
            <a:off x="3730752" y="3337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R</a:t>
            </a:r>
            <a:endParaRPr lang="en-US" sz="1800" dirty="0"/>
          </a:p>
        </p:txBody>
      </p:sp>
      <p:sp>
        <p:nvSpPr>
          <p:cNvPr id="21" name="Shape 19"/>
          <p:cNvSpPr/>
          <p:nvPr/>
        </p:nvSpPr>
        <p:spPr>
          <a:xfrm>
            <a:off x="548640" y="3931920"/>
            <a:ext cx="457200" cy="457200"/>
          </a:xfrm>
          <a:prstGeom prst="roundRect">
            <a:avLst>
              <a:gd name="adj" fmla="val 16000"/>
            </a:avLst>
          </a:prstGeom>
          <a:solidFill>
            <a:srgbClr val="F4B942"/>
          </a:solidFill>
          <a:ln w="12700">
            <a:solidFill>
              <a:srgbClr val="F4B942"/>
            </a:solidFill>
            <a:prstDash val="solid"/>
          </a:ln>
        </p:spPr>
      </p:sp>
      <p:sp>
        <p:nvSpPr>
          <p:cNvPr id="22" name="Text 20"/>
          <p:cNvSpPr txBox="1"/>
          <p:nvPr/>
        </p:nvSpPr>
        <p:spPr>
          <a:xfrm>
            <a:off x="548640"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E</a:t>
            </a:r>
            <a:endParaRPr lang="en-US" sz="1800" dirty="0"/>
          </a:p>
        </p:txBody>
      </p:sp>
      <p:sp>
        <p:nvSpPr>
          <p:cNvPr id="23" name="Shape 21"/>
          <p:cNvSpPr/>
          <p:nvPr/>
        </p:nvSpPr>
        <p:spPr>
          <a:xfrm>
            <a:off x="1078992" y="3931920"/>
            <a:ext cx="457200" cy="457200"/>
          </a:xfrm>
          <a:prstGeom prst="roundRect">
            <a:avLst>
              <a:gd name="adj" fmla="val 16000"/>
            </a:avLst>
          </a:prstGeom>
          <a:solidFill>
            <a:srgbClr val="F4B942"/>
          </a:solidFill>
          <a:ln w="12700">
            <a:solidFill>
              <a:srgbClr val="F4B942"/>
            </a:solidFill>
            <a:prstDash val="solid"/>
          </a:ln>
        </p:spPr>
      </p:sp>
      <p:sp>
        <p:nvSpPr>
          <p:cNvPr id="24" name="Text 22"/>
          <p:cNvSpPr txBox="1"/>
          <p:nvPr/>
        </p:nvSpPr>
        <p:spPr>
          <a:xfrm>
            <a:off x="1078992"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C</a:t>
            </a:r>
            <a:endParaRPr lang="en-US" sz="1800" dirty="0"/>
          </a:p>
        </p:txBody>
      </p:sp>
      <p:sp>
        <p:nvSpPr>
          <p:cNvPr id="25" name="Shape 23"/>
          <p:cNvSpPr/>
          <p:nvPr/>
        </p:nvSpPr>
        <p:spPr>
          <a:xfrm>
            <a:off x="1609344" y="3931920"/>
            <a:ext cx="457200" cy="457200"/>
          </a:xfrm>
          <a:prstGeom prst="roundRect">
            <a:avLst>
              <a:gd name="adj" fmla="val 16000"/>
            </a:avLst>
          </a:prstGeom>
          <a:solidFill>
            <a:srgbClr val="F4B942"/>
          </a:solidFill>
          <a:ln w="12700">
            <a:solidFill>
              <a:srgbClr val="F4B942"/>
            </a:solidFill>
            <a:prstDash val="solid"/>
          </a:ln>
        </p:spPr>
      </p:sp>
      <p:sp>
        <p:nvSpPr>
          <p:cNvPr id="26" name="Text 24"/>
          <p:cNvSpPr txBox="1"/>
          <p:nvPr/>
        </p:nvSpPr>
        <p:spPr>
          <a:xfrm>
            <a:off x="1609344"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L</a:t>
            </a:r>
            <a:endParaRPr lang="en-US" sz="1800" dirty="0"/>
          </a:p>
        </p:txBody>
      </p:sp>
      <p:sp>
        <p:nvSpPr>
          <p:cNvPr id="27" name="Shape 25"/>
          <p:cNvSpPr/>
          <p:nvPr/>
        </p:nvSpPr>
        <p:spPr>
          <a:xfrm>
            <a:off x="2139696" y="3931920"/>
            <a:ext cx="457200" cy="457200"/>
          </a:xfrm>
          <a:prstGeom prst="roundRect">
            <a:avLst>
              <a:gd name="adj" fmla="val 16000"/>
            </a:avLst>
          </a:prstGeom>
          <a:solidFill>
            <a:srgbClr val="F4B942"/>
          </a:solidFill>
          <a:ln w="12700">
            <a:solidFill>
              <a:srgbClr val="F4B942"/>
            </a:solidFill>
            <a:prstDash val="solid"/>
          </a:ln>
        </p:spPr>
      </p:sp>
      <p:sp>
        <p:nvSpPr>
          <p:cNvPr id="28" name="Text 26"/>
          <p:cNvSpPr txBox="1"/>
          <p:nvPr/>
        </p:nvSpPr>
        <p:spPr>
          <a:xfrm>
            <a:off x="2139696"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T</a:t>
            </a:r>
            <a:endParaRPr lang="en-US" sz="1800" dirty="0"/>
          </a:p>
        </p:txBody>
      </p:sp>
      <p:sp>
        <p:nvSpPr>
          <p:cNvPr id="29" name="Shape 27"/>
          <p:cNvSpPr/>
          <p:nvPr/>
        </p:nvSpPr>
        <p:spPr>
          <a:xfrm>
            <a:off x="2670048" y="3931920"/>
            <a:ext cx="457200" cy="457200"/>
          </a:xfrm>
          <a:prstGeom prst="roundRect">
            <a:avLst>
              <a:gd name="adj" fmla="val 16000"/>
            </a:avLst>
          </a:prstGeom>
          <a:solidFill>
            <a:srgbClr val="F4B942"/>
          </a:solidFill>
          <a:ln w="12700">
            <a:solidFill>
              <a:srgbClr val="F4B942"/>
            </a:solidFill>
            <a:prstDash val="solid"/>
          </a:ln>
        </p:spPr>
      </p:sp>
      <p:sp>
        <p:nvSpPr>
          <p:cNvPr id="30" name="Text 28"/>
          <p:cNvSpPr txBox="1"/>
          <p:nvPr/>
        </p:nvSpPr>
        <p:spPr>
          <a:xfrm>
            <a:off x="2670048"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Y</a:t>
            </a:r>
            <a:endParaRPr lang="en-US" sz="1800" dirty="0"/>
          </a:p>
        </p:txBody>
      </p:sp>
      <p:sp>
        <p:nvSpPr>
          <p:cNvPr id="31" name="Shape 29"/>
          <p:cNvSpPr/>
          <p:nvPr/>
        </p:nvSpPr>
        <p:spPr>
          <a:xfrm>
            <a:off x="3200400" y="3931920"/>
            <a:ext cx="457200" cy="457200"/>
          </a:xfrm>
          <a:prstGeom prst="roundRect">
            <a:avLst>
              <a:gd name="adj" fmla="val 16000"/>
            </a:avLst>
          </a:prstGeom>
          <a:solidFill>
            <a:srgbClr val="F4B942"/>
          </a:solidFill>
          <a:ln w="12700">
            <a:solidFill>
              <a:srgbClr val="F4B942"/>
            </a:solidFill>
            <a:prstDash val="solid"/>
          </a:ln>
        </p:spPr>
      </p:sp>
      <p:sp>
        <p:nvSpPr>
          <p:cNvPr id="32" name="Text 30"/>
          <p:cNvSpPr txBox="1"/>
          <p:nvPr/>
        </p:nvSpPr>
        <p:spPr>
          <a:xfrm>
            <a:off x="3200400"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P</a:t>
            </a:r>
            <a:endParaRPr lang="en-US" sz="1800" dirty="0"/>
          </a:p>
        </p:txBody>
      </p:sp>
      <p:sp>
        <p:nvSpPr>
          <p:cNvPr id="33" name="Shape 31"/>
          <p:cNvSpPr/>
          <p:nvPr/>
        </p:nvSpPr>
        <p:spPr>
          <a:xfrm>
            <a:off x="3730752" y="3931920"/>
            <a:ext cx="457200" cy="457200"/>
          </a:xfrm>
          <a:prstGeom prst="roundRect">
            <a:avLst>
              <a:gd name="adj" fmla="val 16000"/>
            </a:avLst>
          </a:prstGeom>
          <a:solidFill>
            <a:srgbClr val="F4B942"/>
          </a:solidFill>
          <a:ln w="12700">
            <a:solidFill>
              <a:srgbClr val="F4B942"/>
            </a:solidFill>
            <a:prstDash val="solid"/>
          </a:ln>
        </p:spPr>
      </p:sp>
      <p:sp>
        <p:nvSpPr>
          <p:cNvPr id="34" name="Text 32"/>
          <p:cNvSpPr txBox="1"/>
          <p:nvPr/>
        </p:nvSpPr>
        <p:spPr>
          <a:xfrm>
            <a:off x="3730752" y="3931920"/>
            <a:ext cx="457200" cy="457200"/>
          </a:xfrm>
          <a:prstGeom prst="rect">
            <a:avLst/>
          </a:prstGeom>
          <a:noFill/>
          <a:ln/>
        </p:spPr>
        <p:txBody>
          <a:bodyPr wrap="square" lIns="0" tIns="0" rIns="0" bIns="0" rtlCol="0" anchor="ctr"/>
          <a:lstStyle/>
          <a:p>
            <a:pPr algn="ctr" indent="0" marL="0">
              <a:buNone/>
            </a:pPr>
            <a:r>
              <a:rPr lang="en-US" sz="1800" b="1" dirty="0">
                <a:solidFill>
                  <a:srgbClr val="0E1A2B"/>
                </a:solidFill>
                <a:latin typeface="Courier New" pitchFamily="34" charset="0"/>
                <a:ea typeface="Courier New" pitchFamily="34" charset="-122"/>
                <a:cs typeface="Courier New" pitchFamily="34" charset="-120"/>
              </a:rPr>
              <a:t>C</a:t>
            </a:r>
            <a:endParaRPr lang="en-US" sz="1800" dirty="0"/>
          </a:p>
        </p:txBody>
      </p:sp>
      <p:sp>
        <p:nvSpPr>
          <p:cNvPr id="35" name="Text 33"/>
          <p:cNvSpPr txBox="1"/>
          <p:nvPr/>
        </p:nvSpPr>
        <p:spPr>
          <a:xfrm>
            <a:off x="5669280" y="3154680"/>
            <a:ext cx="3017520" cy="1280160"/>
          </a:xfrm>
          <a:prstGeom prst="rect">
            <a:avLst/>
          </a:prstGeom>
          <a:noFill/>
          <a:ln/>
        </p:spPr>
        <p:txBody>
          <a:bodyPr wrap="square" lIns="0" tIns="0" rIns="0" bIns="0" rtlCol="0" anchor="t"/>
          <a:lstStyle/>
          <a:p>
            <a:pPr algn="r" indent="0" marL="0">
              <a:spcAft>
                <a:spcPts val="300"/>
              </a:spcAft>
              <a:buNone/>
            </a:pPr>
            <a:r>
              <a:rPr lang="en-US" sz="1200" b="1" dirty="0">
                <a:solidFill>
                  <a:srgbClr val="FFFFFF"/>
                </a:solidFill>
                <a:latin typeface="Calibri" pitchFamily="34" charset="0"/>
                <a:ea typeface="Calibri" pitchFamily="34" charset="-122"/>
                <a:cs typeface="Calibri" pitchFamily="34" charset="-120"/>
              </a:rPr>
              <a:t>Aharnish Dhaw Kumar</a:t>
            </a:r>
            <a:endParaRPr lang="en-US" sz="1200" dirty="0"/>
          </a:p>
          <a:p>
            <a:pPr algn="r" indent="0" marL="0">
              <a:spcAft>
                <a:spcPts val="300"/>
              </a:spcAft>
              <a:buNone/>
            </a:pPr>
            <a:r>
              <a:rPr lang="en-US" sz="1200" dirty="0">
                <a:solidFill>
                  <a:srgbClr val="B8C7D6"/>
                </a:solidFill>
                <a:latin typeface="Calibri" pitchFamily="34" charset="0"/>
                <a:ea typeface="Calibri" pitchFamily="34" charset="-122"/>
                <a:cs typeface="Calibri" pitchFamily="34" charset="-120"/>
              </a:rPr>
              <a:t>Batch: 15 August 2026</a:t>
            </a:r>
            <a:endParaRPr lang="en-US" sz="1200" dirty="0"/>
          </a:p>
          <a:p>
            <a:pPr algn="r" indent="0" marL="0">
              <a:spcAft>
                <a:spcPts val="300"/>
              </a:spcAft>
              <a:buNone/>
            </a:pPr>
            <a:r>
              <a:rPr lang="en-US" sz="1200" dirty="0">
                <a:solidFill>
                  <a:srgbClr val="B8C7D6"/>
                </a:solidFill>
                <a:latin typeface="Calibri" pitchFamily="34" charset="0"/>
                <a:ea typeface="Calibri" pitchFamily="34" charset="-122"/>
                <a:cs typeface="Calibri" pitchFamily="34" charset="-120"/>
              </a:rPr>
              <a:t>Trainer: Ganesh Kuche</a:t>
            </a:r>
            <a:endParaRPr lang="en-US" sz="1200" dirty="0"/>
          </a:p>
          <a:p>
            <a:pPr algn="r" indent="0" marL="0">
              <a:spcAft>
                <a:spcPts val="300"/>
              </a:spcAft>
              <a:buNone/>
            </a:pPr>
            <a:r>
              <a:rPr lang="en-US" sz="1200" dirty="0">
                <a:solidFill>
                  <a:srgbClr val="B8C7D6"/>
                </a:solidFill>
                <a:latin typeface="Calibri" pitchFamily="34" charset="0"/>
                <a:ea typeface="Calibri" pitchFamily="34" charset="-122"/>
                <a:cs typeface="Calibri" pitchFamily="34" charset="-120"/>
              </a:rPr>
              <a:t>15-Day Hands-On Project</a:t>
            </a:r>
            <a:endParaRPr lang="en-US" sz="1200" dirty="0"/>
          </a:p>
          <a:p>
            <a:pPr algn="r" indent="0" marL="0">
              <a:spcAft>
                <a:spcPts val="300"/>
              </a:spcAft>
              <a:buNone/>
            </a:pPr>
            <a:r>
              <a:rPr lang="en-US" sz="1200" dirty="0">
                <a:solidFill>
                  <a:srgbClr val="B8C7D6"/>
                </a:solidFill>
                <a:latin typeface="Calibri" pitchFamily="34" charset="0"/>
                <a:ea typeface="Calibri" pitchFamily="34" charset="-122"/>
                <a:cs typeface="Calibri" pitchFamily="34" charset="-120"/>
              </a:rPr>
              <a:t>Submitted 22/09/2026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Project at a Glance</a:t>
            </a:r>
            <a:endParaRPr lang="en-US" sz="3000" dirty="0"/>
          </a:p>
        </p:txBody>
      </p:sp>
      <p:sp>
        <p:nvSpPr>
          <p:cNvPr id="4" name="Shape 2"/>
          <p:cNvSpPr/>
          <p:nvPr/>
        </p:nvSpPr>
        <p:spPr>
          <a:xfrm>
            <a:off x="548640" y="1280160"/>
            <a:ext cx="2560320" cy="731520"/>
          </a:xfrm>
          <a:prstGeom prst="roundRect">
            <a:avLst>
              <a:gd name="adj" fmla="val 10000"/>
            </a:avLst>
          </a:prstGeom>
          <a:solidFill>
            <a:srgbClr val="F4F6F8"/>
          </a:solidFill>
          <a:ln w="9525">
            <a:solidFill>
              <a:srgbClr val="DCE3EA"/>
            </a:solidFill>
            <a:prstDash val="solid"/>
          </a:ln>
        </p:spPr>
      </p:sp>
      <p:sp>
        <p:nvSpPr>
          <p:cNvPr id="5" name="Shape 3"/>
          <p:cNvSpPr/>
          <p:nvPr/>
        </p:nvSpPr>
        <p:spPr>
          <a:xfrm>
            <a:off x="685800" y="1453896"/>
            <a:ext cx="384048" cy="384048"/>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781812" y="1549908"/>
            <a:ext cx="192024" cy="192024"/>
          </a:xfrm>
          <a:prstGeom prst="rect">
            <a:avLst/>
          </a:prstGeom>
        </p:spPr>
      </p:pic>
      <p:sp>
        <p:nvSpPr>
          <p:cNvPr id="7" name="Text 4"/>
          <p:cNvSpPr txBox="1"/>
          <p:nvPr/>
        </p:nvSpPr>
        <p:spPr>
          <a:xfrm>
            <a:off x="1207008" y="137160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PROJECT TITLE</a:t>
            </a:r>
            <a:endParaRPr lang="en-US" sz="900" dirty="0"/>
          </a:p>
        </p:txBody>
      </p:sp>
      <p:sp>
        <p:nvSpPr>
          <p:cNvPr id="8" name="Text 5"/>
          <p:cNvSpPr txBox="1"/>
          <p:nvPr/>
        </p:nvSpPr>
        <p:spPr>
          <a:xfrm>
            <a:off x="1207008" y="155448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Caesar and Vigenere Cipher Tool</a:t>
            </a:r>
            <a:endParaRPr lang="en-US" sz="1200" dirty="0"/>
          </a:p>
        </p:txBody>
      </p:sp>
      <p:sp>
        <p:nvSpPr>
          <p:cNvPr id="9" name="Shape 6"/>
          <p:cNvSpPr/>
          <p:nvPr/>
        </p:nvSpPr>
        <p:spPr>
          <a:xfrm>
            <a:off x="3273552" y="1280160"/>
            <a:ext cx="2560320" cy="731520"/>
          </a:xfrm>
          <a:prstGeom prst="roundRect">
            <a:avLst>
              <a:gd name="adj" fmla="val 10000"/>
            </a:avLst>
          </a:prstGeom>
          <a:solidFill>
            <a:srgbClr val="F4F6F8"/>
          </a:solidFill>
          <a:ln w="9525">
            <a:solidFill>
              <a:srgbClr val="DCE3EA"/>
            </a:solidFill>
            <a:prstDash val="solid"/>
          </a:ln>
        </p:spPr>
      </p:sp>
      <p:sp>
        <p:nvSpPr>
          <p:cNvPr id="10" name="Shape 7"/>
          <p:cNvSpPr/>
          <p:nvPr/>
        </p:nvSpPr>
        <p:spPr>
          <a:xfrm>
            <a:off x="3410712" y="1453896"/>
            <a:ext cx="384048" cy="384048"/>
          </a:xfrm>
          <a:prstGeom prst="ellipse">
            <a:avLst/>
          </a:prstGeom>
          <a:solidFill>
            <a:srgbClr val="2A9D8F"/>
          </a:solidFill>
          <a:ln w="12700">
            <a:solidFill>
              <a:srgbClr val="2A9D8F"/>
            </a:solidFill>
            <a:prstDash val="solid"/>
          </a:ln>
        </p:spPr>
      </p:sp>
      <p:pic>
        <p:nvPicPr>
          <p:cNvPr id="11" name="Image 1" descr="preencoded.png">    </p:cNvPr>
          <p:cNvPicPr>
            <a:picLocks noChangeAspect="1"/>
          </p:cNvPicPr>
          <p:nvPr/>
        </p:nvPicPr>
        <p:blipFill>
          <a:blip r:embed="rId2"/>
          <a:stretch>
            <a:fillRect/>
          </a:stretch>
        </p:blipFill>
        <p:spPr>
          <a:xfrm>
            <a:off x="3506724" y="1549908"/>
            <a:ext cx="192024" cy="192024"/>
          </a:xfrm>
          <a:prstGeom prst="rect">
            <a:avLst/>
          </a:prstGeom>
        </p:spPr>
      </p:pic>
      <p:sp>
        <p:nvSpPr>
          <p:cNvPr id="12" name="Text 8"/>
          <p:cNvSpPr txBox="1"/>
          <p:nvPr/>
        </p:nvSpPr>
        <p:spPr>
          <a:xfrm>
            <a:off x="3931920" y="137160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STUDENT</a:t>
            </a:r>
            <a:endParaRPr lang="en-US" sz="900" dirty="0"/>
          </a:p>
        </p:txBody>
      </p:sp>
      <p:sp>
        <p:nvSpPr>
          <p:cNvPr id="13" name="Text 9"/>
          <p:cNvSpPr txBox="1"/>
          <p:nvPr/>
        </p:nvSpPr>
        <p:spPr>
          <a:xfrm>
            <a:off x="3931920" y="155448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Aharnish Dhaw Kumar</a:t>
            </a:r>
            <a:endParaRPr lang="en-US" sz="1200" dirty="0"/>
          </a:p>
        </p:txBody>
      </p:sp>
      <p:sp>
        <p:nvSpPr>
          <p:cNvPr id="14" name="Shape 10"/>
          <p:cNvSpPr/>
          <p:nvPr/>
        </p:nvSpPr>
        <p:spPr>
          <a:xfrm>
            <a:off x="548640" y="2148840"/>
            <a:ext cx="2560320" cy="731520"/>
          </a:xfrm>
          <a:prstGeom prst="roundRect">
            <a:avLst>
              <a:gd name="adj" fmla="val 10000"/>
            </a:avLst>
          </a:prstGeom>
          <a:solidFill>
            <a:srgbClr val="F4F6F8"/>
          </a:solidFill>
          <a:ln w="9525">
            <a:solidFill>
              <a:srgbClr val="DCE3EA"/>
            </a:solidFill>
            <a:prstDash val="solid"/>
          </a:ln>
        </p:spPr>
      </p:sp>
      <p:sp>
        <p:nvSpPr>
          <p:cNvPr id="15" name="Shape 11"/>
          <p:cNvSpPr/>
          <p:nvPr/>
        </p:nvSpPr>
        <p:spPr>
          <a:xfrm>
            <a:off x="685800" y="2322576"/>
            <a:ext cx="384048" cy="384048"/>
          </a:xfrm>
          <a:prstGeom prst="ellipse">
            <a:avLst/>
          </a:prstGeom>
          <a:solidFill>
            <a:srgbClr val="2A9D8F"/>
          </a:solidFill>
          <a:ln w="12700">
            <a:solidFill>
              <a:srgbClr val="2A9D8F"/>
            </a:solidFill>
            <a:prstDash val="solid"/>
          </a:ln>
        </p:spPr>
      </p:sp>
      <p:pic>
        <p:nvPicPr>
          <p:cNvPr id="16" name="Image 2" descr="preencoded.png">    </p:cNvPr>
          <p:cNvPicPr>
            <a:picLocks noChangeAspect="1"/>
          </p:cNvPicPr>
          <p:nvPr/>
        </p:nvPicPr>
        <p:blipFill>
          <a:blip r:embed="rId3"/>
          <a:stretch>
            <a:fillRect/>
          </a:stretch>
        </p:blipFill>
        <p:spPr>
          <a:xfrm>
            <a:off x="781812" y="2418588"/>
            <a:ext cx="192024" cy="192024"/>
          </a:xfrm>
          <a:prstGeom prst="rect">
            <a:avLst/>
          </a:prstGeom>
        </p:spPr>
      </p:pic>
      <p:sp>
        <p:nvSpPr>
          <p:cNvPr id="17" name="Text 12"/>
          <p:cNvSpPr txBox="1"/>
          <p:nvPr/>
        </p:nvSpPr>
        <p:spPr>
          <a:xfrm>
            <a:off x="1207008" y="224028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BATCH / COHORT</a:t>
            </a:r>
            <a:endParaRPr lang="en-US" sz="900" dirty="0"/>
          </a:p>
        </p:txBody>
      </p:sp>
      <p:sp>
        <p:nvSpPr>
          <p:cNvPr id="18" name="Text 13"/>
          <p:cNvSpPr txBox="1"/>
          <p:nvPr/>
        </p:nvSpPr>
        <p:spPr>
          <a:xfrm>
            <a:off x="1207008" y="242316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15 August 2026</a:t>
            </a:r>
            <a:endParaRPr lang="en-US" sz="1200" dirty="0"/>
          </a:p>
        </p:txBody>
      </p:sp>
      <p:sp>
        <p:nvSpPr>
          <p:cNvPr id="19" name="Shape 14"/>
          <p:cNvSpPr/>
          <p:nvPr/>
        </p:nvSpPr>
        <p:spPr>
          <a:xfrm>
            <a:off x="3273552" y="2148840"/>
            <a:ext cx="2560320" cy="731520"/>
          </a:xfrm>
          <a:prstGeom prst="roundRect">
            <a:avLst>
              <a:gd name="adj" fmla="val 10000"/>
            </a:avLst>
          </a:prstGeom>
          <a:solidFill>
            <a:srgbClr val="F4F6F8"/>
          </a:solidFill>
          <a:ln w="9525">
            <a:solidFill>
              <a:srgbClr val="DCE3EA"/>
            </a:solidFill>
            <a:prstDash val="solid"/>
          </a:ln>
        </p:spPr>
      </p:sp>
      <p:sp>
        <p:nvSpPr>
          <p:cNvPr id="20" name="Shape 15"/>
          <p:cNvSpPr/>
          <p:nvPr/>
        </p:nvSpPr>
        <p:spPr>
          <a:xfrm>
            <a:off x="3410712" y="2322576"/>
            <a:ext cx="384048" cy="384048"/>
          </a:xfrm>
          <a:prstGeom prst="ellipse">
            <a:avLst/>
          </a:prstGeom>
          <a:solidFill>
            <a:srgbClr val="2A9D8F"/>
          </a:solidFill>
          <a:ln w="12700">
            <a:solidFill>
              <a:srgbClr val="2A9D8F"/>
            </a:solidFill>
            <a:prstDash val="solid"/>
          </a:ln>
        </p:spPr>
      </p:sp>
      <p:pic>
        <p:nvPicPr>
          <p:cNvPr id="21" name="Image 3" descr="preencoded.png">    </p:cNvPr>
          <p:cNvPicPr>
            <a:picLocks noChangeAspect="1"/>
          </p:cNvPicPr>
          <p:nvPr/>
        </p:nvPicPr>
        <p:blipFill>
          <a:blip r:embed="rId4"/>
          <a:stretch>
            <a:fillRect/>
          </a:stretch>
        </p:blipFill>
        <p:spPr>
          <a:xfrm>
            <a:off x="3506724" y="2418588"/>
            <a:ext cx="192024" cy="192024"/>
          </a:xfrm>
          <a:prstGeom prst="rect">
            <a:avLst/>
          </a:prstGeom>
        </p:spPr>
      </p:pic>
      <p:sp>
        <p:nvSpPr>
          <p:cNvPr id="22" name="Text 16"/>
          <p:cNvSpPr txBox="1"/>
          <p:nvPr/>
        </p:nvSpPr>
        <p:spPr>
          <a:xfrm>
            <a:off x="3931920" y="224028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TRAINER</a:t>
            </a:r>
            <a:endParaRPr lang="en-US" sz="900" dirty="0"/>
          </a:p>
        </p:txBody>
      </p:sp>
      <p:sp>
        <p:nvSpPr>
          <p:cNvPr id="23" name="Text 17"/>
          <p:cNvSpPr txBox="1"/>
          <p:nvPr/>
        </p:nvSpPr>
        <p:spPr>
          <a:xfrm>
            <a:off x="3931920" y="242316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Ganesh Kuche</a:t>
            </a:r>
            <a:endParaRPr lang="en-US" sz="1200" dirty="0"/>
          </a:p>
        </p:txBody>
      </p:sp>
      <p:sp>
        <p:nvSpPr>
          <p:cNvPr id="24" name="Shape 18"/>
          <p:cNvSpPr/>
          <p:nvPr/>
        </p:nvSpPr>
        <p:spPr>
          <a:xfrm>
            <a:off x="548640" y="3017520"/>
            <a:ext cx="2560320" cy="731520"/>
          </a:xfrm>
          <a:prstGeom prst="roundRect">
            <a:avLst>
              <a:gd name="adj" fmla="val 10000"/>
            </a:avLst>
          </a:prstGeom>
          <a:solidFill>
            <a:srgbClr val="F4F6F8"/>
          </a:solidFill>
          <a:ln w="9525">
            <a:solidFill>
              <a:srgbClr val="DCE3EA"/>
            </a:solidFill>
            <a:prstDash val="solid"/>
          </a:ln>
        </p:spPr>
      </p:sp>
      <p:sp>
        <p:nvSpPr>
          <p:cNvPr id="25" name="Shape 19"/>
          <p:cNvSpPr/>
          <p:nvPr/>
        </p:nvSpPr>
        <p:spPr>
          <a:xfrm>
            <a:off x="685800" y="3191256"/>
            <a:ext cx="384048" cy="384048"/>
          </a:xfrm>
          <a:prstGeom prst="ellipse">
            <a:avLst/>
          </a:prstGeom>
          <a:solidFill>
            <a:srgbClr val="2A9D8F"/>
          </a:solidFill>
          <a:ln w="12700">
            <a:solidFill>
              <a:srgbClr val="2A9D8F"/>
            </a:solidFill>
            <a:prstDash val="solid"/>
          </a:ln>
        </p:spPr>
      </p:sp>
      <p:pic>
        <p:nvPicPr>
          <p:cNvPr id="26" name="Image 4" descr="preencoded.png">    </p:cNvPr>
          <p:cNvPicPr>
            <a:picLocks noChangeAspect="1"/>
          </p:cNvPicPr>
          <p:nvPr/>
        </p:nvPicPr>
        <p:blipFill>
          <a:blip r:embed="rId5"/>
          <a:stretch>
            <a:fillRect/>
          </a:stretch>
        </p:blipFill>
        <p:spPr>
          <a:xfrm>
            <a:off x="781812" y="3287268"/>
            <a:ext cx="192024" cy="192024"/>
          </a:xfrm>
          <a:prstGeom prst="rect">
            <a:avLst/>
          </a:prstGeom>
        </p:spPr>
      </p:pic>
      <p:sp>
        <p:nvSpPr>
          <p:cNvPr id="27" name="Text 20"/>
          <p:cNvSpPr txBox="1"/>
          <p:nvPr/>
        </p:nvSpPr>
        <p:spPr>
          <a:xfrm>
            <a:off x="1207008" y="310896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DOMAIN</a:t>
            </a:r>
            <a:endParaRPr lang="en-US" sz="900" dirty="0"/>
          </a:p>
        </p:txBody>
      </p:sp>
      <p:sp>
        <p:nvSpPr>
          <p:cNvPr id="28" name="Text 21"/>
          <p:cNvSpPr txBox="1"/>
          <p:nvPr/>
        </p:nvSpPr>
        <p:spPr>
          <a:xfrm>
            <a:off x="1207008" y="329184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Cryptography</a:t>
            </a:r>
            <a:endParaRPr lang="en-US" sz="1200" dirty="0"/>
          </a:p>
        </p:txBody>
      </p:sp>
      <p:sp>
        <p:nvSpPr>
          <p:cNvPr id="29" name="Shape 22"/>
          <p:cNvSpPr/>
          <p:nvPr/>
        </p:nvSpPr>
        <p:spPr>
          <a:xfrm>
            <a:off x="3273552" y="3017520"/>
            <a:ext cx="2560320" cy="731520"/>
          </a:xfrm>
          <a:prstGeom prst="roundRect">
            <a:avLst>
              <a:gd name="adj" fmla="val 10000"/>
            </a:avLst>
          </a:prstGeom>
          <a:solidFill>
            <a:srgbClr val="F4F6F8"/>
          </a:solidFill>
          <a:ln w="9525">
            <a:solidFill>
              <a:srgbClr val="DCE3EA"/>
            </a:solidFill>
            <a:prstDash val="solid"/>
          </a:ln>
        </p:spPr>
      </p:sp>
      <p:sp>
        <p:nvSpPr>
          <p:cNvPr id="30" name="Shape 23"/>
          <p:cNvSpPr/>
          <p:nvPr/>
        </p:nvSpPr>
        <p:spPr>
          <a:xfrm>
            <a:off x="3410712" y="3191256"/>
            <a:ext cx="384048" cy="384048"/>
          </a:xfrm>
          <a:prstGeom prst="ellipse">
            <a:avLst/>
          </a:prstGeom>
          <a:solidFill>
            <a:srgbClr val="2A9D8F"/>
          </a:solidFill>
          <a:ln w="12700">
            <a:solidFill>
              <a:srgbClr val="2A9D8F"/>
            </a:solidFill>
            <a:prstDash val="solid"/>
          </a:ln>
        </p:spPr>
      </p:sp>
      <p:pic>
        <p:nvPicPr>
          <p:cNvPr id="31" name="Image 5" descr="preencoded.png">    </p:cNvPr>
          <p:cNvPicPr>
            <a:picLocks noChangeAspect="1"/>
          </p:cNvPicPr>
          <p:nvPr/>
        </p:nvPicPr>
        <p:blipFill>
          <a:blip r:embed="rId6"/>
          <a:stretch>
            <a:fillRect/>
          </a:stretch>
        </p:blipFill>
        <p:spPr>
          <a:xfrm>
            <a:off x="3506724" y="3287268"/>
            <a:ext cx="192024" cy="192024"/>
          </a:xfrm>
          <a:prstGeom prst="rect">
            <a:avLst/>
          </a:prstGeom>
        </p:spPr>
      </p:pic>
      <p:sp>
        <p:nvSpPr>
          <p:cNvPr id="32" name="Text 24"/>
          <p:cNvSpPr txBox="1"/>
          <p:nvPr/>
        </p:nvSpPr>
        <p:spPr>
          <a:xfrm>
            <a:off x="3931920" y="310896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DIFFICULTY</a:t>
            </a:r>
            <a:endParaRPr lang="en-US" sz="900" dirty="0"/>
          </a:p>
        </p:txBody>
      </p:sp>
      <p:sp>
        <p:nvSpPr>
          <p:cNvPr id="33" name="Text 25"/>
          <p:cNvSpPr txBox="1"/>
          <p:nvPr/>
        </p:nvSpPr>
        <p:spPr>
          <a:xfrm>
            <a:off x="3931920" y="329184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Advanced</a:t>
            </a:r>
            <a:endParaRPr lang="en-US" sz="1200" dirty="0"/>
          </a:p>
        </p:txBody>
      </p:sp>
      <p:sp>
        <p:nvSpPr>
          <p:cNvPr id="34" name="Shape 26"/>
          <p:cNvSpPr/>
          <p:nvPr/>
        </p:nvSpPr>
        <p:spPr>
          <a:xfrm>
            <a:off x="548640" y="3886200"/>
            <a:ext cx="2560320" cy="731520"/>
          </a:xfrm>
          <a:prstGeom prst="roundRect">
            <a:avLst>
              <a:gd name="adj" fmla="val 10000"/>
            </a:avLst>
          </a:prstGeom>
          <a:solidFill>
            <a:srgbClr val="F4F6F8"/>
          </a:solidFill>
          <a:ln w="9525">
            <a:solidFill>
              <a:srgbClr val="DCE3EA"/>
            </a:solidFill>
            <a:prstDash val="solid"/>
          </a:ln>
        </p:spPr>
      </p:sp>
      <p:sp>
        <p:nvSpPr>
          <p:cNvPr id="35" name="Shape 27"/>
          <p:cNvSpPr/>
          <p:nvPr/>
        </p:nvSpPr>
        <p:spPr>
          <a:xfrm>
            <a:off x="685800" y="4059936"/>
            <a:ext cx="384048" cy="384048"/>
          </a:xfrm>
          <a:prstGeom prst="ellipse">
            <a:avLst/>
          </a:prstGeom>
          <a:solidFill>
            <a:srgbClr val="2A9D8F"/>
          </a:solidFill>
          <a:ln w="12700">
            <a:solidFill>
              <a:srgbClr val="2A9D8F"/>
            </a:solidFill>
            <a:prstDash val="solid"/>
          </a:ln>
        </p:spPr>
      </p:sp>
      <p:pic>
        <p:nvPicPr>
          <p:cNvPr id="36" name="Image 6" descr="preencoded.png">    </p:cNvPr>
          <p:cNvPicPr>
            <a:picLocks noChangeAspect="1"/>
          </p:cNvPicPr>
          <p:nvPr/>
        </p:nvPicPr>
        <p:blipFill>
          <a:blip r:embed="rId7"/>
          <a:stretch>
            <a:fillRect/>
          </a:stretch>
        </p:blipFill>
        <p:spPr>
          <a:xfrm>
            <a:off x="781812" y="4155948"/>
            <a:ext cx="192024" cy="192024"/>
          </a:xfrm>
          <a:prstGeom prst="rect">
            <a:avLst/>
          </a:prstGeom>
        </p:spPr>
      </p:pic>
      <p:sp>
        <p:nvSpPr>
          <p:cNvPr id="37" name="Text 28"/>
          <p:cNvSpPr txBox="1"/>
          <p:nvPr/>
        </p:nvSpPr>
        <p:spPr>
          <a:xfrm>
            <a:off x="1207008" y="397764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SUBMISSION DATE</a:t>
            </a:r>
            <a:endParaRPr lang="en-US" sz="900" dirty="0"/>
          </a:p>
        </p:txBody>
      </p:sp>
      <p:sp>
        <p:nvSpPr>
          <p:cNvPr id="38" name="Text 29"/>
          <p:cNvSpPr txBox="1"/>
          <p:nvPr/>
        </p:nvSpPr>
        <p:spPr>
          <a:xfrm>
            <a:off x="1207008" y="416052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22/09/2026</a:t>
            </a:r>
            <a:endParaRPr lang="en-US" sz="1200" dirty="0"/>
          </a:p>
        </p:txBody>
      </p:sp>
      <p:sp>
        <p:nvSpPr>
          <p:cNvPr id="39" name="Shape 30"/>
          <p:cNvSpPr/>
          <p:nvPr/>
        </p:nvSpPr>
        <p:spPr>
          <a:xfrm>
            <a:off x="3273552" y="3886200"/>
            <a:ext cx="2560320" cy="731520"/>
          </a:xfrm>
          <a:prstGeom prst="roundRect">
            <a:avLst>
              <a:gd name="adj" fmla="val 10000"/>
            </a:avLst>
          </a:prstGeom>
          <a:solidFill>
            <a:srgbClr val="F4F6F8"/>
          </a:solidFill>
          <a:ln w="9525">
            <a:solidFill>
              <a:srgbClr val="DCE3EA"/>
            </a:solidFill>
            <a:prstDash val="solid"/>
          </a:ln>
        </p:spPr>
      </p:sp>
      <p:sp>
        <p:nvSpPr>
          <p:cNvPr id="40" name="Shape 31"/>
          <p:cNvSpPr/>
          <p:nvPr/>
        </p:nvSpPr>
        <p:spPr>
          <a:xfrm>
            <a:off x="3410712" y="4059936"/>
            <a:ext cx="384048" cy="384048"/>
          </a:xfrm>
          <a:prstGeom prst="ellipse">
            <a:avLst/>
          </a:prstGeom>
          <a:solidFill>
            <a:srgbClr val="2A9D8F"/>
          </a:solidFill>
          <a:ln w="12700">
            <a:solidFill>
              <a:srgbClr val="2A9D8F"/>
            </a:solidFill>
            <a:prstDash val="solid"/>
          </a:ln>
        </p:spPr>
      </p:sp>
      <p:pic>
        <p:nvPicPr>
          <p:cNvPr id="41" name="Image 7" descr="preencoded.png">    </p:cNvPr>
          <p:cNvPicPr>
            <a:picLocks noChangeAspect="1"/>
          </p:cNvPicPr>
          <p:nvPr/>
        </p:nvPicPr>
        <p:blipFill>
          <a:blip r:embed="rId8"/>
          <a:stretch>
            <a:fillRect/>
          </a:stretch>
        </p:blipFill>
        <p:spPr>
          <a:xfrm>
            <a:off x="3506724" y="4155948"/>
            <a:ext cx="192024" cy="192024"/>
          </a:xfrm>
          <a:prstGeom prst="rect">
            <a:avLst/>
          </a:prstGeom>
        </p:spPr>
      </p:pic>
      <p:sp>
        <p:nvSpPr>
          <p:cNvPr id="42" name="Text 32"/>
          <p:cNvSpPr txBox="1"/>
          <p:nvPr/>
        </p:nvSpPr>
        <p:spPr>
          <a:xfrm>
            <a:off x="3931920" y="3977640"/>
            <a:ext cx="1828800" cy="182880"/>
          </a:xfrm>
          <a:prstGeom prst="rect">
            <a:avLst/>
          </a:prstGeom>
          <a:noFill/>
          <a:ln/>
        </p:spPr>
        <p:txBody>
          <a:bodyPr wrap="square" lIns="0" tIns="0" rIns="0" bIns="0" rtlCol="0" anchor="ctr"/>
          <a:lstStyle/>
          <a:p>
            <a:pPr indent="0" marL="0">
              <a:buNone/>
            </a:pPr>
            <a:r>
              <a:rPr lang="en-US" sz="900" b="1" spc="100" kern="0" dirty="0">
                <a:solidFill>
                  <a:srgbClr val="5B6B7B"/>
                </a:solidFill>
                <a:latin typeface="Calibri" pitchFamily="34" charset="0"/>
                <a:ea typeface="Calibri" pitchFamily="34" charset="-122"/>
                <a:cs typeface="Calibri" pitchFamily="34" charset="-120"/>
              </a:rPr>
              <a:t>DELIVERABLES</a:t>
            </a:r>
            <a:endParaRPr lang="en-US" sz="900" dirty="0"/>
          </a:p>
        </p:txBody>
      </p:sp>
      <p:sp>
        <p:nvSpPr>
          <p:cNvPr id="43" name="Text 33"/>
          <p:cNvSpPr txBox="1"/>
          <p:nvPr/>
        </p:nvSpPr>
        <p:spPr>
          <a:xfrm>
            <a:off x="3931920" y="4160520"/>
            <a:ext cx="1828800" cy="384048"/>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CLI tool, Tkinter GUI, README</a:t>
            </a:r>
            <a:endParaRPr lang="en-US" sz="1200" dirty="0"/>
          </a:p>
        </p:txBody>
      </p:sp>
      <p:sp>
        <p:nvSpPr>
          <p:cNvPr id="44" name="Shape 34"/>
          <p:cNvSpPr/>
          <p:nvPr/>
        </p:nvSpPr>
        <p:spPr>
          <a:xfrm>
            <a:off x="6035040" y="1280160"/>
            <a:ext cx="2560320" cy="3337560"/>
          </a:xfrm>
          <a:prstGeom prst="roundRect">
            <a:avLst>
              <a:gd name="adj" fmla="val 3571"/>
            </a:avLst>
          </a:prstGeom>
          <a:solidFill>
            <a:srgbClr val="0E1A2B"/>
          </a:solidFill>
          <a:ln w="12700">
            <a:solidFill>
              <a:srgbClr val="0E1A2B"/>
            </a:solidFill>
            <a:prstDash val="solid"/>
          </a:ln>
        </p:spPr>
      </p:sp>
      <p:sp>
        <p:nvSpPr>
          <p:cNvPr id="45" name="Text 35"/>
          <p:cNvSpPr txBox="1"/>
          <p:nvPr/>
        </p:nvSpPr>
        <p:spPr>
          <a:xfrm>
            <a:off x="6263640" y="1481328"/>
            <a:ext cx="2103120" cy="365760"/>
          </a:xfrm>
          <a:prstGeom prst="rect">
            <a:avLst/>
          </a:prstGeom>
          <a:noFill/>
          <a:ln/>
        </p:spPr>
        <p:txBody>
          <a:bodyPr wrap="square" lIns="0" tIns="0" rIns="0" bIns="0" rtlCol="0" anchor="ctr"/>
          <a:lstStyle/>
          <a:p>
            <a:pPr indent="0" marL="0">
              <a:buNone/>
            </a:pPr>
            <a:r>
              <a:rPr lang="en-US" sz="1000" b="1" spc="200" kern="0" dirty="0">
                <a:solidFill>
                  <a:srgbClr val="F4B942"/>
                </a:solidFill>
                <a:latin typeface="Calibri" pitchFamily="34" charset="0"/>
                <a:ea typeface="Calibri" pitchFamily="34" charset="-122"/>
                <a:cs typeface="Calibri" pitchFamily="34" charset="-120"/>
              </a:rPr>
              <a:t>THREE ATTACK TECHNIQUES</a:t>
            </a:r>
            <a:endParaRPr lang="en-US" sz="1000" dirty="0"/>
          </a:p>
        </p:txBody>
      </p:sp>
      <p:sp>
        <p:nvSpPr>
          <p:cNvPr id="46" name="Text 36"/>
          <p:cNvSpPr txBox="1"/>
          <p:nvPr/>
        </p:nvSpPr>
        <p:spPr>
          <a:xfrm>
            <a:off x="6263640" y="2011680"/>
            <a:ext cx="210312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Chi-squared</a:t>
            </a:r>
            <a:endParaRPr lang="en-US" sz="1600" dirty="0"/>
          </a:p>
        </p:txBody>
      </p:sp>
      <p:sp>
        <p:nvSpPr>
          <p:cNvPr id="47" name="Text 37"/>
          <p:cNvSpPr txBox="1"/>
          <p:nvPr/>
        </p:nvSpPr>
        <p:spPr>
          <a:xfrm>
            <a:off x="6263640" y="2304288"/>
            <a:ext cx="2103120" cy="365760"/>
          </a:xfrm>
          <a:prstGeom prst="rect">
            <a:avLst/>
          </a:prstGeom>
          <a:noFill/>
          <a:ln/>
        </p:spPr>
        <p:txBody>
          <a:bodyPr wrap="square" lIns="0" tIns="0" rIns="0" bIns="0" rtlCol="0" anchor="t"/>
          <a:lstStyle/>
          <a:p>
            <a:pPr indent="0" marL="0">
              <a:buNone/>
            </a:pPr>
            <a:r>
              <a:rPr lang="en-US" sz="1200" dirty="0">
                <a:solidFill>
                  <a:srgbClr val="B8C7D6"/>
                </a:solidFill>
                <a:latin typeface="Calibri" pitchFamily="34" charset="0"/>
                <a:ea typeface="Calibri" pitchFamily="34" charset="-122"/>
                <a:cs typeface="Calibri" pitchFamily="34" charset="-120"/>
              </a:rPr>
              <a:t>scoring for Caesar shifts</a:t>
            </a:r>
            <a:endParaRPr lang="en-US" sz="1200" dirty="0"/>
          </a:p>
        </p:txBody>
      </p:sp>
      <p:sp>
        <p:nvSpPr>
          <p:cNvPr id="48" name="Text 38"/>
          <p:cNvSpPr txBox="1"/>
          <p:nvPr/>
        </p:nvSpPr>
        <p:spPr>
          <a:xfrm>
            <a:off x="6263640" y="2862072"/>
            <a:ext cx="210312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Kasiski</a:t>
            </a:r>
            <a:endParaRPr lang="en-US" sz="1600" dirty="0"/>
          </a:p>
        </p:txBody>
      </p:sp>
      <p:sp>
        <p:nvSpPr>
          <p:cNvPr id="49" name="Text 39"/>
          <p:cNvSpPr txBox="1"/>
          <p:nvPr/>
        </p:nvSpPr>
        <p:spPr>
          <a:xfrm>
            <a:off x="6263640" y="3154680"/>
            <a:ext cx="2103120" cy="365760"/>
          </a:xfrm>
          <a:prstGeom prst="rect">
            <a:avLst/>
          </a:prstGeom>
          <a:noFill/>
          <a:ln/>
        </p:spPr>
        <p:txBody>
          <a:bodyPr wrap="square" lIns="0" tIns="0" rIns="0" bIns="0" rtlCol="0" anchor="t"/>
          <a:lstStyle/>
          <a:p>
            <a:pPr indent="0" marL="0">
              <a:buNone/>
            </a:pPr>
            <a:r>
              <a:rPr lang="en-US" sz="1200" dirty="0">
                <a:solidFill>
                  <a:srgbClr val="B8C7D6"/>
                </a:solidFill>
                <a:latin typeface="Calibri" pitchFamily="34" charset="0"/>
                <a:ea typeface="Calibri" pitchFamily="34" charset="-122"/>
                <a:cs typeface="Calibri" pitchFamily="34" charset="-120"/>
              </a:rPr>
              <a:t>examination for key length</a:t>
            </a:r>
            <a:endParaRPr lang="en-US" sz="1200" dirty="0"/>
          </a:p>
        </p:txBody>
      </p:sp>
      <p:sp>
        <p:nvSpPr>
          <p:cNvPr id="50" name="Text 40"/>
          <p:cNvSpPr txBox="1"/>
          <p:nvPr/>
        </p:nvSpPr>
        <p:spPr>
          <a:xfrm>
            <a:off x="6263640" y="3712464"/>
            <a:ext cx="210312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Index of Coincidence</a:t>
            </a:r>
            <a:endParaRPr lang="en-US" sz="1600" dirty="0"/>
          </a:p>
        </p:txBody>
      </p:sp>
      <p:sp>
        <p:nvSpPr>
          <p:cNvPr id="51" name="Text 41"/>
          <p:cNvSpPr txBox="1"/>
          <p:nvPr/>
        </p:nvSpPr>
        <p:spPr>
          <a:xfrm>
            <a:off x="6263640" y="4005072"/>
            <a:ext cx="2103120" cy="365760"/>
          </a:xfrm>
          <a:prstGeom prst="rect">
            <a:avLst/>
          </a:prstGeom>
          <a:noFill/>
          <a:ln/>
        </p:spPr>
        <p:txBody>
          <a:bodyPr wrap="square" lIns="0" tIns="0" rIns="0" bIns="0" rtlCol="0" anchor="t"/>
          <a:lstStyle/>
          <a:p>
            <a:pPr indent="0" marL="0">
              <a:buNone/>
            </a:pPr>
            <a:r>
              <a:rPr lang="en-US" sz="1200" dirty="0">
                <a:solidFill>
                  <a:srgbClr val="B8C7D6"/>
                </a:solidFill>
                <a:latin typeface="Calibri" pitchFamily="34" charset="0"/>
                <a:ea typeface="Calibri" pitchFamily="34" charset="-122"/>
                <a:cs typeface="Calibri" pitchFamily="34" charset="-120"/>
              </a:rPr>
              <a:t>to confirm key length</a:t>
            </a:r>
            <a:endParaRPr lang="en-US" sz="1200" dirty="0"/>
          </a:p>
        </p:txBody>
      </p:sp>
      <p:sp>
        <p:nvSpPr>
          <p:cNvPr id="52" name="Text 42"/>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53" name="Text 43"/>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ABSTRACT &amp; PROBLEM STATEMENT</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Why Classical Ciphers Fail</a:t>
            </a:r>
            <a:endParaRPr lang="en-US" sz="3000" dirty="0"/>
          </a:p>
        </p:txBody>
      </p:sp>
      <p:sp>
        <p:nvSpPr>
          <p:cNvPr id="4" name="Shape 2"/>
          <p:cNvSpPr/>
          <p:nvPr/>
        </p:nvSpPr>
        <p:spPr>
          <a:xfrm>
            <a:off x="548640" y="1280160"/>
            <a:ext cx="3931920" cy="3337560"/>
          </a:xfrm>
          <a:prstGeom prst="roundRect">
            <a:avLst>
              <a:gd name="adj" fmla="val 2740"/>
            </a:avLst>
          </a:prstGeom>
          <a:solidFill>
            <a:srgbClr val="F4F6F8"/>
          </a:solidFill>
          <a:ln w="9525">
            <a:solidFill>
              <a:srgbClr val="DCE3EA"/>
            </a:solidFill>
            <a:prstDash val="solid"/>
          </a:ln>
        </p:spPr>
      </p:sp>
      <p:sp>
        <p:nvSpPr>
          <p:cNvPr id="5" name="Text 3"/>
          <p:cNvSpPr txBox="1"/>
          <p:nvPr/>
        </p:nvSpPr>
        <p:spPr>
          <a:xfrm>
            <a:off x="822960" y="1463040"/>
            <a:ext cx="3383280" cy="320040"/>
          </a:xfrm>
          <a:prstGeom prst="rect">
            <a:avLst/>
          </a:prstGeom>
          <a:noFill/>
          <a:ln/>
        </p:spPr>
        <p:txBody>
          <a:bodyPr wrap="square" lIns="0" tIns="0" rIns="0" bIns="0" rtlCol="0" anchor="ctr"/>
          <a:lstStyle/>
          <a:p>
            <a:pPr indent="0" marL="0">
              <a:buNone/>
            </a:pPr>
            <a:r>
              <a:rPr lang="en-US" sz="2000" b="1" dirty="0">
                <a:solidFill>
                  <a:srgbClr val="0E1A2B"/>
                </a:solidFill>
                <a:latin typeface="Cambria" pitchFamily="34" charset="0"/>
                <a:ea typeface="Cambria" pitchFamily="34" charset="-122"/>
                <a:cs typeface="Cambria" pitchFamily="34" charset="-120"/>
              </a:rPr>
              <a:t>The problem</a:t>
            </a:r>
            <a:endParaRPr lang="en-US" sz="2000" dirty="0"/>
          </a:p>
        </p:txBody>
      </p:sp>
      <p:sp>
        <p:nvSpPr>
          <p:cNvPr id="6" name="Text 4"/>
          <p:cNvSpPr txBox="1"/>
          <p:nvPr/>
        </p:nvSpPr>
        <p:spPr>
          <a:xfrm>
            <a:off x="822960" y="1828800"/>
            <a:ext cx="3383280" cy="1188720"/>
          </a:xfrm>
          <a:prstGeom prst="rect">
            <a:avLst/>
          </a:prstGeom>
          <a:noFill/>
          <a:ln/>
        </p:spPr>
        <p:txBody>
          <a:bodyPr wrap="square" lIns="0" tIns="0" rIns="0" bIns="0" rtlCol="0" anchor="t"/>
          <a:lstStyle/>
          <a:p>
            <a:pPr indent="0" marL="0">
              <a:buNone/>
            </a:pPr>
            <a:r>
              <a:rPr lang="en-US" sz="1300" dirty="0">
                <a:solidFill>
                  <a:srgbClr val="1C2833"/>
                </a:solidFill>
                <a:latin typeface="Calibri" pitchFamily="34" charset="0"/>
                <a:ea typeface="Calibri" pitchFamily="34" charset="-122"/>
                <a:cs typeface="Calibri" pitchFamily="34" charset="-120"/>
              </a:rPr>
              <a:t>Substitution ciphers do not hide the statistical structure of a language. Letters in natural text appear with predictable frequencies, so an attacker can recover the message and key without authorization.</a:t>
            </a:r>
            <a:endParaRPr lang="en-US" sz="1300" dirty="0"/>
          </a:p>
        </p:txBody>
      </p:sp>
      <p:sp>
        <p:nvSpPr>
          <p:cNvPr id="7" name="Shape 5"/>
          <p:cNvSpPr/>
          <p:nvPr/>
        </p:nvSpPr>
        <p:spPr>
          <a:xfrm>
            <a:off x="822960" y="3291840"/>
            <a:ext cx="685800" cy="685800"/>
          </a:xfrm>
          <a:prstGeom prst="roundRect">
            <a:avLst>
              <a:gd name="adj" fmla="val 13333"/>
            </a:avLst>
          </a:prstGeom>
          <a:solidFill>
            <a:srgbClr val="2A9D8F"/>
          </a:solidFill>
          <a:ln w="12700">
            <a:solidFill>
              <a:srgbClr val="2A9D8F"/>
            </a:solidFill>
            <a:prstDash val="solid"/>
          </a:ln>
        </p:spPr>
      </p:sp>
      <p:sp>
        <p:nvSpPr>
          <p:cNvPr id="8" name="Text 6"/>
          <p:cNvSpPr txBox="1"/>
          <p:nvPr/>
        </p:nvSpPr>
        <p:spPr>
          <a:xfrm>
            <a:off x="822960" y="329184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ourier New" pitchFamily="34" charset="0"/>
                <a:ea typeface="Courier New" pitchFamily="34" charset="-122"/>
                <a:cs typeface="Courier New" pitchFamily="34" charset="-120"/>
              </a:rPr>
              <a:t>e</a:t>
            </a:r>
            <a:endParaRPr lang="en-US" sz="2800" dirty="0"/>
          </a:p>
        </p:txBody>
      </p:sp>
      <p:sp>
        <p:nvSpPr>
          <p:cNvPr id="9" name="Text 7"/>
          <p:cNvSpPr txBox="1"/>
          <p:nvPr/>
        </p:nvSpPr>
        <p:spPr>
          <a:xfrm>
            <a:off x="777240" y="4023360"/>
            <a:ext cx="777240" cy="22860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common</a:t>
            </a:r>
            <a:endParaRPr lang="en-US" sz="1000" dirty="0"/>
          </a:p>
        </p:txBody>
      </p:sp>
      <p:sp>
        <p:nvSpPr>
          <p:cNvPr id="10" name="Shape 8"/>
          <p:cNvSpPr/>
          <p:nvPr/>
        </p:nvSpPr>
        <p:spPr>
          <a:xfrm>
            <a:off x="1664208" y="3291840"/>
            <a:ext cx="685800" cy="685800"/>
          </a:xfrm>
          <a:prstGeom prst="roundRect">
            <a:avLst>
              <a:gd name="adj" fmla="val 13333"/>
            </a:avLst>
          </a:prstGeom>
          <a:solidFill>
            <a:srgbClr val="2A9D8F"/>
          </a:solidFill>
          <a:ln w="12700">
            <a:solidFill>
              <a:srgbClr val="2A9D8F"/>
            </a:solidFill>
            <a:prstDash val="solid"/>
          </a:ln>
        </p:spPr>
      </p:sp>
      <p:sp>
        <p:nvSpPr>
          <p:cNvPr id="11" name="Text 9"/>
          <p:cNvSpPr txBox="1"/>
          <p:nvPr/>
        </p:nvSpPr>
        <p:spPr>
          <a:xfrm>
            <a:off x="1664208" y="329184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ourier New" pitchFamily="34" charset="0"/>
                <a:ea typeface="Courier New" pitchFamily="34" charset="-122"/>
                <a:cs typeface="Courier New" pitchFamily="34" charset="-120"/>
              </a:rPr>
              <a:t>t</a:t>
            </a:r>
            <a:endParaRPr lang="en-US" sz="2800" dirty="0"/>
          </a:p>
        </p:txBody>
      </p:sp>
      <p:sp>
        <p:nvSpPr>
          <p:cNvPr id="12" name="Text 10"/>
          <p:cNvSpPr txBox="1"/>
          <p:nvPr/>
        </p:nvSpPr>
        <p:spPr>
          <a:xfrm>
            <a:off x="1618488" y="4023360"/>
            <a:ext cx="777240" cy="22860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common</a:t>
            </a:r>
            <a:endParaRPr lang="en-US" sz="1000" dirty="0"/>
          </a:p>
        </p:txBody>
      </p:sp>
      <p:sp>
        <p:nvSpPr>
          <p:cNvPr id="13" name="Shape 11"/>
          <p:cNvSpPr/>
          <p:nvPr/>
        </p:nvSpPr>
        <p:spPr>
          <a:xfrm>
            <a:off x="2505456" y="3291840"/>
            <a:ext cx="685800" cy="685800"/>
          </a:xfrm>
          <a:prstGeom prst="roundRect">
            <a:avLst>
              <a:gd name="adj" fmla="val 13333"/>
            </a:avLst>
          </a:prstGeom>
          <a:solidFill>
            <a:srgbClr val="D1495B"/>
          </a:solidFill>
          <a:ln w="12700">
            <a:solidFill>
              <a:srgbClr val="D1495B"/>
            </a:solidFill>
            <a:prstDash val="solid"/>
          </a:ln>
        </p:spPr>
      </p:sp>
      <p:sp>
        <p:nvSpPr>
          <p:cNvPr id="14" name="Text 12"/>
          <p:cNvSpPr txBox="1"/>
          <p:nvPr/>
        </p:nvSpPr>
        <p:spPr>
          <a:xfrm>
            <a:off x="2505456" y="329184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ourier New" pitchFamily="34" charset="0"/>
                <a:ea typeface="Courier New" pitchFamily="34" charset="-122"/>
                <a:cs typeface="Courier New" pitchFamily="34" charset="-120"/>
              </a:rPr>
              <a:t>q</a:t>
            </a:r>
            <a:endParaRPr lang="en-US" sz="2800" dirty="0"/>
          </a:p>
        </p:txBody>
      </p:sp>
      <p:sp>
        <p:nvSpPr>
          <p:cNvPr id="15" name="Text 13"/>
          <p:cNvSpPr txBox="1"/>
          <p:nvPr/>
        </p:nvSpPr>
        <p:spPr>
          <a:xfrm>
            <a:off x="2459736" y="4023360"/>
            <a:ext cx="777240" cy="22860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rare</a:t>
            </a:r>
            <a:endParaRPr lang="en-US" sz="1000" dirty="0"/>
          </a:p>
        </p:txBody>
      </p:sp>
      <p:sp>
        <p:nvSpPr>
          <p:cNvPr id="16" name="Shape 14"/>
          <p:cNvSpPr/>
          <p:nvPr/>
        </p:nvSpPr>
        <p:spPr>
          <a:xfrm>
            <a:off x="3346704" y="3291840"/>
            <a:ext cx="685800" cy="685800"/>
          </a:xfrm>
          <a:prstGeom prst="roundRect">
            <a:avLst>
              <a:gd name="adj" fmla="val 13333"/>
            </a:avLst>
          </a:prstGeom>
          <a:solidFill>
            <a:srgbClr val="D1495B"/>
          </a:solidFill>
          <a:ln w="12700">
            <a:solidFill>
              <a:srgbClr val="D1495B"/>
            </a:solidFill>
            <a:prstDash val="solid"/>
          </a:ln>
        </p:spPr>
      </p:sp>
      <p:sp>
        <p:nvSpPr>
          <p:cNvPr id="17" name="Text 15"/>
          <p:cNvSpPr txBox="1"/>
          <p:nvPr/>
        </p:nvSpPr>
        <p:spPr>
          <a:xfrm>
            <a:off x="3346704" y="329184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ourier New" pitchFamily="34" charset="0"/>
                <a:ea typeface="Courier New" pitchFamily="34" charset="-122"/>
                <a:cs typeface="Courier New" pitchFamily="34" charset="-120"/>
              </a:rPr>
              <a:t>z</a:t>
            </a:r>
            <a:endParaRPr lang="en-US" sz="2800" dirty="0"/>
          </a:p>
        </p:txBody>
      </p:sp>
      <p:sp>
        <p:nvSpPr>
          <p:cNvPr id="18" name="Text 16"/>
          <p:cNvSpPr txBox="1"/>
          <p:nvPr/>
        </p:nvSpPr>
        <p:spPr>
          <a:xfrm>
            <a:off x="3300984" y="4023360"/>
            <a:ext cx="777240" cy="228600"/>
          </a:xfrm>
          <a:prstGeom prst="rect">
            <a:avLst/>
          </a:prstGeom>
          <a:noFill/>
          <a:ln/>
        </p:spPr>
        <p:txBody>
          <a:bodyPr wrap="square" lIns="0" tIns="0" rIns="0" bIns="0" rtlCol="0" anchor="ctr"/>
          <a:lstStyle/>
          <a:p>
            <a:pPr algn="ctr" indent="0" marL="0">
              <a:buNone/>
            </a:pPr>
            <a:r>
              <a:rPr lang="en-US" sz="1000" dirty="0">
                <a:solidFill>
                  <a:srgbClr val="5B6B7B"/>
                </a:solidFill>
                <a:latin typeface="Calibri" pitchFamily="34" charset="0"/>
                <a:ea typeface="Calibri" pitchFamily="34" charset="-122"/>
                <a:cs typeface="Calibri" pitchFamily="34" charset="-120"/>
              </a:rPr>
              <a:t>rare</a:t>
            </a:r>
            <a:endParaRPr lang="en-US" sz="1000" dirty="0"/>
          </a:p>
        </p:txBody>
      </p:sp>
      <p:sp>
        <p:nvSpPr>
          <p:cNvPr id="19" name="Shape 17"/>
          <p:cNvSpPr/>
          <p:nvPr/>
        </p:nvSpPr>
        <p:spPr>
          <a:xfrm>
            <a:off x="4663440" y="1280160"/>
            <a:ext cx="3931920" cy="3337560"/>
          </a:xfrm>
          <a:prstGeom prst="roundRect">
            <a:avLst>
              <a:gd name="adj" fmla="val 2740"/>
            </a:avLst>
          </a:prstGeom>
          <a:solidFill>
            <a:srgbClr val="0E1A2B"/>
          </a:solidFill>
          <a:ln w="12700">
            <a:solidFill>
              <a:srgbClr val="0E1A2B"/>
            </a:solidFill>
            <a:prstDash val="solid"/>
          </a:ln>
        </p:spPr>
      </p:sp>
      <p:sp>
        <p:nvSpPr>
          <p:cNvPr id="20" name="Text 18"/>
          <p:cNvSpPr txBox="1"/>
          <p:nvPr/>
        </p:nvSpPr>
        <p:spPr>
          <a:xfrm>
            <a:off x="4937760" y="1463040"/>
            <a:ext cx="3383280" cy="3200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this project does</a:t>
            </a:r>
            <a:endParaRPr lang="en-US" sz="2000" dirty="0"/>
          </a:p>
        </p:txBody>
      </p:sp>
      <p:sp>
        <p:nvSpPr>
          <p:cNvPr id="21" name="Text 19"/>
          <p:cNvSpPr txBox="1"/>
          <p:nvPr/>
        </p:nvSpPr>
        <p:spPr>
          <a:xfrm>
            <a:off x="4937760" y="1828800"/>
            <a:ext cx="338328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CE6F0"/>
                </a:solidFill>
                <a:latin typeface="Calibri" pitchFamily="34" charset="0"/>
                <a:ea typeface="Calibri" pitchFamily="34" charset="-122"/>
                <a:cs typeface="Calibri" pitchFamily="34" charset="-120"/>
              </a:rPr>
              <a:t>A custom Python cipher tool with a graphical interface for Caesar and Vigenère ciphers</a:t>
            </a:r>
            <a:endParaRPr lang="en-US" sz="1300" dirty="0"/>
          </a:p>
          <a:p>
            <a:pPr marL="342900" indent="-342900">
              <a:spcAft>
                <a:spcPts val="800"/>
              </a:spcAft>
              <a:buSzPct val="100000"/>
              <a:buChar char="•"/>
            </a:pPr>
            <a:r>
              <a:rPr lang="en-US" sz="1300" dirty="0">
                <a:solidFill>
                  <a:srgbClr val="DCE6F0"/>
                </a:solidFill>
                <a:latin typeface="Calibri" pitchFamily="34" charset="0"/>
                <a:ea typeface="Calibri" pitchFamily="34" charset="-122"/>
                <a:cs typeface="Calibri" pitchFamily="34" charset="-120"/>
              </a:rPr>
              <a:t>Automated cracking using chi-squared scoring, Kasiski examination and Index of Coincidence</a:t>
            </a:r>
            <a:endParaRPr lang="en-US" sz="1300" dirty="0"/>
          </a:p>
          <a:p>
            <a:pPr marL="342900" indent="-342900">
              <a:spcAft>
                <a:spcPts val="800"/>
              </a:spcAft>
              <a:buSzPct val="100000"/>
              <a:buChar char="•"/>
            </a:pPr>
            <a:r>
              <a:rPr lang="en-US" sz="1300" dirty="0">
                <a:solidFill>
                  <a:srgbClr val="DCE6F0"/>
                </a:solidFill>
                <a:latin typeface="Calibri" pitchFamily="34" charset="0"/>
                <a:ea typeface="Calibri" pitchFamily="34" charset="-122"/>
                <a:cs typeface="Calibri" pitchFamily="34" charset="-120"/>
              </a:rPr>
              <a:t>Shows how patterns expose plaintext with no prior knowledge of the key</a:t>
            </a:r>
            <a:endParaRPr lang="en-US" sz="1300" dirty="0"/>
          </a:p>
        </p:txBody>
      </p:sp>
      <p:sp>
        <p:nvSpPr>
          <p:cNvPr id="22" name="Text 20"/>
          <p:cNvSpPr txBox="1"/>
          <p:nvPr/>
        </p:nvSpPr>
        <p:spPr>
          <a:xfrm>
            <a:off x="4937760" y="3794760"/>
            <a:ext cx="3383280" cy="640080"/>
          </a:xfrm>
          <a:prstGeom prst="rect">
            <a:avLst/>
          </a:prstGeom>
          <a:noFill/>
          <a:ln/>
        </p:spPr>
        <p:txBody>
          <a:bodyPr wrap="square" lIns="0" tIns="0" rIns="0" bIns="0" rtlCol="0" anchor="t"/>
          <a:lstStyle/>
          <a:p>
            <a:pPr indent="0" marL="0">
              <a:buNone/>
            </a:pPr>
            <a:r>
              <a:rPr lang="en-US" sz="1200" i="1" dirty="0">
                <a:solidFill>
                  <a:srgbClr val="F4B942"/>
                </a:solidFill>
                <a:latin typeface="Calibri" pitchFamily="34" charset="0"/>
                <a:ea typeface="Calibri" pitchFamily="34" charset="-122"/>
                <a:cs typeface="Calibri" pitchFamily="34" charset="-120"/>
              </a:rPr>
              <a:t>These are the weaknesses that modern standards like AES are engineered to eliminate.</a:t>
            </a:r>
            <a:endParaRPr lang="en-US" sz="1200" dirty="0"/>
          </a:p>
        </p:txBody>
      </p:sp>
      <p:sp>
        <p:nvSpPr>
          <p:cNvPr id="23" name="Text 2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4" name="Text 22"/>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GOALS</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280160"/>
            <a:ext cx="3931920" cy="1554480"/>
          </a:xfrm>
          <a:prstGeom prst="roundRect">
            <a:avLst>
              <a:gd name="adj" fmla="val 5882"/>
            </a:avLst>
          </a:prstGeom>
          <a:solidFill>
            <a:srgbClr val="FFFFFF"/>
          </a:solidFill>
          <a:ln w="9525">
            <a:solidFill>
              <a:srgbClr val="DCE3EA"/>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508760"/>
            <a:ext cx="548640" cy="548640"/>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914400" y="1645920"/>
            <a:ext cx="274320" cy="274320"/>
          </a:xfrm>
          <a:prstGeom prst="rect">
            <a:avLst/>
          </a:prstGeom>
        </p:spPr>
      </p:pic>
      <p:sp>
        <p:nvSpPr>
          <p:cNvPr id="7" name="Text 4"/>
          <p:cNvSpPr txBox="1"/>
          <p:nvPr/>
        </p:nvSpPr>
        <p:spPr>
          <a:xfrm>
            <a:off x="1508760" y="1481328"/>
            <a:ext cx="2788920" cy="32004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Build the tool</a:t>
            </a:r>
            <a:endParaRPr lang="en-US" sz="1600" dirty="0"/>
          </a:p>
        </p:txBody>
      </p:sp>
      <p:sp>
        <p:nvSpPr>
          <p:cNvPr id="8" name="Text 5"/>
          <p:cNvSpPr txBox="1"/>
          <p:nvPr/>
        </p:nvSpPr>
        <p:spPr>
          <a:xfrm>
            <a:off x="1508760" y="1847088"/>
            <a:ext cx="2788920" cy="86868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Design a command-line and graphical tool for Caesar and Vigenère encryption, decryption and analysis.</a:t>
            </a:r>
            <a:endParaRPr lang="en-US" sz="1200" dirty="0"/>
          </a:p>
        </p:txBody>
      </p:sp>
      <p:sp>
        <p:nvSpPr>
          <p:cNvPr id="9" name="Shape 6"/>
          <p:cNvSpPr/>
          <p:nvPr/>
        </p:nvSpPr>
        <p:spPr>
          <a:xfrm>
            <a:off x="4663440" y="1280160"/>
            <a:ext cx="3931920" cy="1554480"/>
          </a:xfrm>
          <a:prstGeom prst="roundRect">
            <a:avLst>
              <a:gd name="adj" fmla="val 5882"/>
            </a:avLst>
          </a:prstGeom>
          <a:solidFill>
            <a:srgbClr val="FFFFFF"/>
          </a:solidFill>
          <a:ln w="9525">
            <a:solidFill>
              <a:srgbClr val="DCE3EA"/>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892040" y="1508760"/>
            <a:ext cx="548640" cy="548640"/>
          </a:xfrm>
          <a:prstGeom prst="ellipse">
            <a:avLst/>
          </a:prstGeom>
          <a:solidFill>
            <a:srgbClr val="0E1A2B"/>
          </a:solidFill>
          <a:ln w="12700">
            <a:solidFill>
              <a:srgbClr val="0E1A2B"/>
            </a:solidFill>
            <a:prstDash val="solid"/>
          </a:ln>
        </p:spPr>
      </p:sp>
      <p:pic>
        <p:nvPicPr>
          <p:cNvPr id="11" name="Image 1" descr="preencoded.png">    </p:cNvPr>
          <p:cNvPicPr>
            <a:picLocks noChangeAspect="1"/>
          </p:cNvPicPr>
          <p:nvPr/>
        </p:nvPicPr>
        <p:blipFill>
          <a:blip r:embed="rId2"/>
          <a:stretch>
            <a:fillRect/>
          </a:stretch>
        </p:blipFill>
        <p:spPr>
          <a:xfrm>
            <a:off x="5029200" y="1645920"/>
            <a:ext cx="274320" cy="274320"/>
          </a:xfrm>
          <a:prstGeom prst="rect">
            <a:avLst/>
          </a:prstGeom>
        </p:spPr>
      </p:pic>
      <p:sp>
        <p:nvSpPr>
          <p:cNvPr id="12" name="Text 8"/>
          <p:cNvSpPr txBox="1"/>
          <p:nvPr/>
        </p:nvSpPr>
        <p:spPr>
          <a:xfrm>
            <a:off x="5623560" y="1481328"/>
            <a:ext cx="2788920" cy="32004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Crack Caesar automatically</a:t>
            </a:r>
            <a:endParaRPr lang="en-US" sz="1600" dirty="0"/>
          </a:p>
        </p:txBody>
      </p:sp>
      <p:sp>
        <p:nvSpPr>
          <p:cNvPr id="13" name="Text 9"/>
          <p:cNvSpPr txBox="1"/>
          <p:nvPr/>
        </p:nvSpPr>
        <p:spPr>
          <a:xfrm>
            <a:off x="5623560" y="1847088"/>
            <a:ext cx="2788920" cy="86868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Implement chi-squared frequency analysis to find the shift of a Caesar cipher.</a:t>
            </a:r>
            <a:endParaRPr lang="en-US" sz="1200" dirty="0"/>
          </a:p>
        </p:txBody>
      </p:sp>
      <p:sp>
        <p:nvSpPr>
          <p:cNvPr id="14" name="Shape 10"/>
          <p:cNvSpPr/>
          <p:nvPr/>
        </p:nvSpPr>
        <p:spPr>
          <a:xfrm>
            <a:off x="548640" y="3063240"/>
            <a:ext cx="3931920" cy="1554480"/>
          </a:xfrm>
          <a:prstGeom prst="roundRect">
            <a:avLst>
              <a:gd name="adj" fmla="val 5882"/>
            </a:avLst>
          </a:prstGeom>
          <a:solidFill>
            <a:srgbClr val="FFFFFF"/>
          </a:solidFill>
          <a:ln w="9525">
            <a:solidFill>
              <a:srgbClr val="DCE3EA"/>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777240" y="3291840"/>
            <a:ext cx="548640" cy="548640"/>
          </a:xfrm>
          <a:prstGeom prst="ellipse">
            <a:avLst/>
          </a:prstGeom>
          <a:solidFill>
            <a:srgbClr val="2A9D8F"/>
          </a:solidFill>
          <a:ln w="12700">
            <a:solidFill>
              <a:srgbClr val="2A9D8F"/>
            </a:solidFill>
            <a:prstDash val="solid"/>
          </a:ln>
        </p:spPr>
      </p:sp>
      <p:pic>
        <p:nvPicPr>
          <p:cNvPr id="16" name="Image 2" descr="preencoded.png">    </p:cNvPr>
          <p:cNvPicPr>
            <a:picLocks noChangeAspect="1"/>
          </p:cNvPicPr>
          <p:nvPr/>
        </p:nvPicPr>
        <p:blipFill>
          <a:blip r:embed="rId3"/>
          <a:stretch>
            <a:fillRect/>
          </a:stretch>
        </p:blipFill>
        <p:spPr>
          <a:xfrm>
            <a:off x="914400" y="3429000"/>
            <a:ext cx="274320" cy="274320"/>
          </a:xfrm>
          <a:prstGeom prst="rect">
            <a:avLst/>
          </a:prstGeom>
        </p:spPr>
      </p:pic>
      <p:sp>
        <p:nvSpPr>
          <p:cNvPr id="17" name="Text 12"/>
          <p:cNvSpPr txBox="1"/>
          <p:nvPr/>
        </p:nvSpPr>
        <p:spPr>
          <a:xfrm>
            <a:off x="1508760" y="3264408"/>
            <a:ext cx="2788920" cy="32004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Detect Vigenère key length</a:t>
            </a:r>
            <a:endParaRPr lang="en-US" sz="1600" dirty="0"/>
          </a:p>
        </p:txBody>
      </p:sp>
      <p:sp>
        <p:nvSpPr>
          <p:cNvPr id="18" name="Text 13"/>
          <p:cNvSpPr txBox="1"/>
          <p:nvPr/>
        </p:nvSpPr>
        <p:spPr>
          <a:xfrm>
            <a:off x="1508760" y="3630168"/>
            <a:ext cx="2788920" cy="86868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Integrate Kasiski examination and Index of Coincidence calculations.</a:t>
            </a:r>
            <a:endParaRPr lang="en-US" sz="1200" dirty="0"/>
          </a:p>
        </p:txBody>
      </p:sp>
      <p:sp>
        <p:nvSpPr>
          <p:cNvPr id="19" name="Shape 14"/>
          <p:cNvSpPr/>
          <p:nvPr/>
        </p:nvSpPr>
        <p:spPr>
          <a:xfrm>
            <a:off x="4663440" y="3063240"/>
            <a:ext cx="3931920" cy="1554480"/>
          </a:xfrm>
          <a:prstGeom prst="roundRect">
            <a:avLst>
              <a:gd name="adj" fmla="val 5882"/>
            </a:avLst>
          </a:prstGeom>
          <a:solidFill>
            <a:srgbClr val="FFFFFF"/>
          </a:solidFill>
          <a:ln w="9525">
            <a:solidFill>
              <a:srgbClr val="DCE3EA"/>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4892040" y="3291840"/>
            <a:ext cx="548640" cy="548640"/>
          </a:xfrm>
          <a:prstGeom prst="ellipse">
            <a:avLst/>
          </a:prstGeom>
          <a:solidFill>
            <a:srgbClr val="0E1A2B"/>
          </a:solidFill>
          <a:ln w="12700">
            <a:solidFill>
              <a:srgbClr val="0E1A2B"/>
            </a:solidFill>
            <a:prstDash val="solid"/>
          </a:ln>
        </p:spPr>
      </p:sp>
      <p:pic>
        <p:nvPicPr>
          <p:cNvPr id="21" name="Image 3" descr="preencoded.png">    </p:cNvPr>
          <p:cNvPicPr>
            <a:picLocks noChangeAspect="1"/>
          </p:cNvPicPr>
          <p:nvPr/>
        </p:nvPicPr>
        <p:blipFill>
          <a:blip r:embed="rId4"/>
          <a:stretch>
            <a:fillRect/>
          </a:stretch>
        </p:blipFill>
        <p:spPr>
          <a:xfrm>
            <a:off x="5029200" y="3429000"/>
            <a:ext cx="274320" cy="274320"/>
          </a:xfrm>
          <a:prstGeom prst="rect">
            <a:avLst/>
          </a:prstGeom>
        </p:spPr>
      </p:pic>
      <p:sp>
        <p:nvSpPr>
          <p:cNvPr id="22" name="Text 16"/>
          <p:cNvSpPr txBox="1"/>
          <p:nvPr/>
        </p:nvSpPr>
        <p:spPr>
          <a:xfrm>
            <a:off x="5623560" y="3264408"/>
            <a:ext cx="2788920" cy="32004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Test and document</a:t>
            </a:r>
            <a:endParaRPr lang="en-US" sz="1600" dirty="0"/>
          </a:p>
        </p:txBody>
      </p:sp>
      <p:sp>
        <p:nvSpPr>
          <p:cNvPr id="23" name="Text 17"/>
          <p:cNvSpPr txBox="1"/>
          <p:nvPr/>
        </p:nvSpPr>
        <p:spPr>
          <a:xfrm>
            <a:off x="5623560" y="3630168"/>
            <a:ext cx="2788920" cy="86868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Test across various ciphertexts and record performance observations.</a:t>
            </a:r>
            <a:endParaRPr lang="en-US" sz="1200" dirty="0"/>
          </a:p>
        </p:txBody>
      </p:sp>
      <p:sp>
        <p:nvSpPr>
          <p:cNvPr id="24" name="Text 18"/>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5" name="Text 19"/>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Tools &amp; Environment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1371600"/>
                <a:gridCol w="1188720"/>
                <a:gridCol w="21945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E1A2B"/>
                    </a:solidFill>
                  </a:tcPr>
                </a:tc>
              </a:tr>
              <a:tr h="502920">
                <a:tc>
                  <a:txBody>
                    <a:bodyPr/>
                    <a:lstStyle/>
                    <a:p>
                      <a:pPr indent="0" marL="0">
                        <a:buNone/>
                      </a:pPr>
                      <a:r>
                        <a:rPr lang="en-US" sz="1100" b="1" dirty="0">
                          <a:solidFill>
                            <a:srgbClr val="1C2833"/>
                          </a:solidFill>
                          <a:latin typeface="Calibri" pitchFamily="34" charset="0"/>
                          <a:ea typeface="Calibri" pitchFamily="34" charset="-122"/>
                          <a:cs typeface="Calibri" pitchFamily="34" charset="-120"/>
                        </a:rPr>
                        <a:t>Python 3</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Core logic and cryptographic implementation</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r>
              <a:tr h="502920">
                <a:tc>
                  <a:txBody>
                    <a:bodyPr/>
                    <a:lstStyle/>
                    <a:p>
                      <a:pPr indent="0" marL="0">
                        <a:buNone/>
                      </a:pPr>
                      <a:r>
                        <a:rPr lang="en-US" sz="1100" b="1" dirty="0">
                          <a:solidFill>
                            <a:srgbClr val="1C2833"/>
                          </a:solidFill>
                          <a:latin typeface="Calibri" pitchFamily="34" charset="0"/>
                          <a:ea typeface="Calibri" pitchFamily="34" charset="-122"/>
                          <a:cs typeface="Calibri" pitchFamily="34" charset="-120"/>
                        </a:rPr>
                        <a:t>Tkinter</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Standard library</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Graphical user interface layer</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r>
              <a:tr h="502920">
                <a:tc>
                  <a:txBody>
                    <a:bodyPr/>
                    <a:lstStyle/>
                    <a:p>
                      <a:pPr indent="0" marL="0">
                        <a:buNone/>
                      </a:pPr>
                      <a:r>
                        <a:rPr lang="en-US" sz="1100" b="1" dirty="0">
                          <a:solidFill>
                            <a:srgbClr val="1C2833"/>
                          </a:solidFill>
                          <a:latin typeface="Calibri" pitchFamily="34" charset="0"/>
                          <a:ea typeface="Calibri" pitchFamily="34" charset="-122"/>
                          <a:cs typeface="Calibri" pitchFamily="34" charset="-120"/>
                        </a:rPr>
                        <a:t>VS Code / Terminal</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Native OS</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Development, testing and script execution</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r>
              <a:tr h="502920">
                <a:tc>
                  <a:txBody>
                    <a:bodyPr/>
                    <a:lstStyle/>
                    <a:p>
                      <a:pPr indent="0" marL="0">
                        <a:buNone/>
                      </a:pPr>
                      <a:r>
                        <a:rPr lang="en-US" sz="1100" b="1" dirty="0">
                          <a:solidFill>
                            <a:srgbClr val="1C2833"/>
                          </a:solidFill>
                          <a:latin typeface="Calibri" pitchFamily="34" charset="0"/>
                          <a:ea typeface="Calibri" pitchFamily="34" charset="-122"/>
                          <a:cs typeface="Calibri" pitchFamily="34" charset="-120"/>
                        </a:rPr>
                        <a:t>Git / Markdown</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Latest</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indent="0" marL="0">
                        <a:buNone/>
                      </a:pPr>
                      <a:r>
                        <a:rPr lang="en-US" sz="1100" dirty="0">
                          <a:solidFill>
                            <a:srgbClr val="1C2833"/>
                          </a:solidFill>
                          <a:latin typeface="Calibri" pitchFamily="34" charset="0"/>
                          <a:ea typeface="Calibri" pitchFamily="34" charset="-122"/>
                          <a:cs typeface="Calibri" pitchFamily="34" charset="-120"/>
                        </a:rPr>
                        <a:t>Versioning and documentation</a:t>
                      </a:r>
                      <a:endParaRPr lang="en-US" sz="11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r>
            </a:tbl>
          </a:graphicData>
        </a:graphic>
      </p:graphicFrame>
      <p:sp>
        <p:nvSpPr>
          <p:cNvPr id="5" name="Text 2"/>
          <p:cNvSpPr txBox="1"/>
          <p:nvPr/>
        </p:nvSpPr>
        <p:spPr>
          <a:xfrm>
            <a:off x="548640" y="4206240"/>
            <a:ext cx="4754880" cy="3657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Deployed locally on a machine running Python 3, split into three modular files.</a:t>
            </a:r>
            <a:endParaRPr lang="en-US" sz="1200" dirty="0"/>
          </a:p>
        </p:txBody>
      </p:sp>
      <p:sp>
        <p:nvSpPr>
          <p:cNvPr id="6" name="Shape 3"/>
          <p:cNvSpPr/>
          <p:nvPr/>
        </p:nvSpPr>
        <p:spPr>
          <a:xfrm>
            <a:off x="5669280" y="1280160"/>
            <a:ext cx="2926080" cy="914400"/>
          </a:xfrm>
          <a:prstGeom prst="roundRect">
            <a:avLst>
              <a:gd name="adj" fmla="val 10000"/>
            </a:avLst>
          </a:prstGeom>
          <a:solidFill>
            <a:srgbClr val="2A9D8F"/>
          </a:solidFill>
          <a:ln w="12700">
            <a:solidFill>
              <a:srgbClr val="2A9D8F"/>
            </a:solidFill>
            <a:prstDash val="solid"/>
          </a:ln>
        </p:spPr>
      </p:sp>
      <p:sp>
        <p:nvSpPr>
          <p:cNvPr id="7" name="Shape 4"/>
          <p:cNvSpPr/>
          <p:nvPr/>
        </p:nvSpPr>
        <p:spPr>
          <a:xfrm>
            <a:off x="5833872" y="1508760"/>
            <a:ext cx="457200" cy="457200"/>
          </a:xfrm>
          <a:prstGeom prst="ellipse">
            <a:avLst/>
          </a:prstGeom>
          <a:solidFill>
            <a:srgbClr val="0E1A2B"/>
          </a:solidFill>
          <a:ln w="12700">
            <a:solidFill>
              <a:srgbClr val="0E1A2B"/>
            </a:solidFill>
            <a:prstDash val="solid"/>
          </a:ln>
        </p:spPr>
      </p:sp>
      <p:pic>
        <p:nvPicPr>
          <p:cNvPr id="8" name="Image 0" descr="preencoded.png">    </p:cNvPr>
          <p:cNvPicPr>
            <a:picLocks noChangeAspect="1"/>
          </p:cNvPicPr>
          <p:nvPr/>
        </p:nvPicPr>
        <p:blipFill>
          <a:blip r:embed="rId1"/>
          <a:stretch>
            <a:fillRect/>
          </a:stretch>
        </p:blipFill>
        <p:spPr>
          <a:xfrm>
            <a:off x="5948172" y="1623060"/>
            <a:ext cx="228600" cy="228600"/>
          </a:xfrm>
          <a:prstGeom prst="rect">
            <a:avLst/>
          </a:prstGeom>
        </p:spPr>
      </p:pic>
      <p:sp>
        <p:nvSpPr>
          <p:cNvPr id="9" name="Text 5"/>
          <p:cNvSpPr txBox="1"/>
          <p:nvPr/>
        </p:nvSpPr>
        <p:spPr>
          <a:xfrm>
            <a:off x="6446520" y="1408176"/>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cipher_gui.py</a:t>
            </a:r>
            <a:endParaRPr lang="en-US" sz="1300" dirty="0"/>
          </a:p>
        </p:txBody>
      </p:sp>
      <p:sp>
        <p:nvSpPr>
          <p:cNvPr id="10" name="Text 6"/>
          <p:cNvSpPr txBox="1"/>
          <p:nvPr/>
        </p:nvSpPr>
        <p:spPr>
          <a:xfrm>
            <a:off x="6446520" y="1700784"/>
            <a:ext cx="2011680" cy="411480"/>
          </a:xfrm>
          <a:prstGeom prst="rect">
            <a:avLst/>
          </a:prstGeom>
          <a:noFill/>
          <a:ln/>
        </p:spPr>
        <p:txBody>
          <a:bodyPr wrap="square" lIns="0" tIns="0" rIns="0" bIns="0" rtlCol="0" anchor="t"/>
          <a:lstStyle/>
          <a:p>
            <a:pPr indent="0" marL="0">
              <a:buNone/>
            </a:pPr>
            <a:r>
              <a:rPr lang="en-US" sz="1100" dirty="0">
                <a:solidFill>
                  <a:srgbClr val="E6EEF5"/>
                </a:solidFill>
                <a:latin typeface="Calibri" pitchFamily="34" charset="0"/>
                <a:ea typeface="Calibri" pitchFamily="34" charset="-122"/>
                <a:cs typeface="Calibri" pitchFamily="34" charset="-120"/>
              </a:rPr>
              <a:t>Tkinter interface, presentation layer only</a:t>
            </a:r>
            <a:endParaRPr lang="en-US" sz="1100" dirty="0"/>
          </a:p>
        </p:txBody>
      </p:sp>
      <p:sp>
        <p:nvSpPr>
          <p:cNvPr id="11" name="Shape 7"/>
          <p:cNvSpPr/>
          <p:nvPr/>
        </p:nvSpPr>
        <p:spPr>
          <a:xfrm>
            <a:off x="5669280" y="2450592"/>
            <a:ext cx="2926080" cy="914400"/>
          </a:xfrm>
          <a:prstGeom prst="roundRect">
            <a:avLst>
              <a:gd name="adj" fmla="val 10000"/>
            </a:avLst>
          </a:prstGeom>
          <a:solidFill>
            <a:srgbClr val="0E1A2B"/>
          </a:solidFill>
          <a:ln w="12700">
            <a:solidFill>
              <a:srgbClr val="0E1A2B"/>
            </a:solidFill>
            <a:prstDash val="solid"/>
          </a:ln>
        </p:spPr>
      </p:sp>
      <p:sp>
        <p:nvSpPr>
          <p:cNvPr id="12" name="Shape 8"/>
          <p:cNvSpPr/>
          <p:nvPr/>
        </p:nvSpPr>
        <p:spPr>
          <a:xfrm>
            <a:off x="5833872" y="2679192"/>
            <a:ext cx="457200" cy="457200"/>
          </a:xfrm>
          <a:prstGeom prst="ellipse">
            <a:avLst/>
          </a:prstGeom>
          <a:solidFill>
            <a:srgbClr val="2A9D8F"/>
          </a:solidFill>
          <a:ln w="12700">
            <a:solidFill>
              <a:srgbClr val="2A9D8F"/>
            </a:solidFill>
            <a:prstDash val="solid"/>
          </a:ln>
        </p:spPr>
      </p:sp>
      <p:pic>
        <p:nvPicPr>
          <p:cNvPr id="13" name="Image 1" descr="preencoded.png">    </p:cNvPr>
          <p:cNvPicPr>
            <a:picLocks noChangeAspect="1"/>
          </p:cNvPicPr>
          <p:nvPr/>
        </p:nvPicPr>
        <p:blipFill>
          <a:blip r:embed="rId2"/>
          <a:stretch>
            <a:fillRect/>
          </a:stretch>
        </p:blipFill>
        <p:spPr>
          <a:xfrm>
            <a:off x="5948172" y="2793492"/>
            <a:ext cx="228600" cy="228600"/>
          </a:xfrm>
          <a:prstGeom prst="rect">
            <a:avLst/>
          </a:prstGeom>
        </p:spPr>
      </p:pic>
      <p:sp>
        <p:nvSpPr>
          <p:cNvPr id="14" name="Text 9"/>
          <p:cNvSpPr txBox="1"/>
          <p:nvPr/>
        </p:nvSpPr>
        <p:spPr>
          <a:xfrm>
            <a:off x="6446520" y="2578608"/>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cipher_tool.py</a:t>
            </a:r>
            <a:endParaRPr lang="en-US" sz="1300" dirty="0"/>
          </a:p>
        </p:txBody>
      </p:sp>
      <p:sp>
        <p:nvSpPr>
          <p:cNvPr id="15" name="Text 10"/>
          <p:cNvSpPr txBox="1"/>
          <p:nvPr/>
        </p:nvSpPr>
        <p:spPr>
          <a:xfrm>
            <a:off x="6446520" y="2871216"/>
            <a:ext cx="2011680" cy="411480"/>
          </a:xfrm>
          <a:prstGeom prst="rect">
            <a:avLst/>
          </a:prstGeom>
          <a:noFill/>
          <a:ln/>
        </p:spPr>
        <p:txBody>
          <a:bodyPr wrap="square" lIns="0" tIns="0" rIns="0" bIns="0" rtlCol="0" anchor="t"/>
          <a:lstStyle/>
          <a:p>
            <a:pPr indent="0" marL="0">
              <a:buNone/>
            </a:pPr>
            <a:r>
              <a:rPr lang="en-US" sz="1100" dirty="0">
                <a:solidFill>
                  <a:srgbClr val="E6EEF5"/>
                </a:solidFill>
                <a:latin typeface="Calibri" pitchFamily="34" charset="0"/>
                <a:ea typeface="Calibri" pitchFamily="34" charset="-122"/>
                <a:cs typeface="Calibri" pitchFamily="34" charset="-120"/>
              </a:rPr>
              <a:t>Cipher algorithms, frequency statistics and CLI</a:t>
            </a:r>
            <a:endParaRPr lang="en-US" sz="1100" dirty="0"/>
          </a:p>
        </p:txBody>
      </p:sp>
      <p:sp>
        <p:nvSpPr>
          <p:cNvPr id="16" name="Shape 11"/>
          <p:cNvSpPr/>
          <p:nvPr/>
        </p:nvSpPr>
        <p:spPr>
          <a:xfrm>
            <a:off x="5669280" y="3621024"/>
            <a:ext cx="2926080" cy="914400"/>
          </a:xfrm>
          <a:prstGeom prst="roundRect">
            <a:avLst>
              <a:gd name="adj" fmla="val 10000"/>
            </a:avLst>
          </a:prstGeom>
          <a:solidFill>
            <a:srgbClr val="3B5573"/>
          </a:solidFill>
          <a:ln w="12700">
            <a:solidFill>
              <a:srgbClr val="3B5573"/>
            </a:solidFill>
            <a:prstDash val="solid"/>
          </a:ln>
        </p:spPr>
      </p:sp>
      <p:sp>
        <p:nvSpPr>
          <p:cNvPr id="17" name="Shape 12"/>
          <p:cNvSpPr/>
          <p:nvPr/>
        </p:nvSpPr>
        <p:spPr>
          <a:xfrm>
            <a:off x="5833872" y="3849624"/>
            <a:ext cx="457200" cy="457200"/>
          </a:xfrm>
          <a:prstGeom prst="ellipse">
            <a:avLst/>
          </a:prstGeom>
          <a:solidFill>
            <a:srgbClr val="0E1A2B"/>
          </a:solidFill>
          <a:ln w="12700">
            <a:solidFill>
              <a:srgbClr val="0E1A2B"/>
            </a:solidFill>
            <a:prstDash val="solid"/>
          </a:ln>
        </p:spPr>
      </p:sp>
      <p:pic>
        <p:nvPicPr>
          <p:cNvPr id="18" name="Image 2" descr="preencoded.png">    </p:cNvPr>
          <p:cNvPicPr>
            <a:picLocks noChangeAspect="1"/>
          </p:cNvPicPr>
          <p:nvPr/>
        </p:nvPicPr>
        <p:blipFill>
          <a:blip r:embed="rId3"/>
          <a:stretch>
            <a:fillRect/>
          </a:stretch>
        </p:blipFill>
        <p:spPr>
          <a:xfrm>
            <a:off x="5948172" y="3963924"/>
            <a:ext cx="228600" cy="228600"/>
          </a:xfrm>
          <a:prstGeom prst="rect">
            <a:avLst/>
          </a:prstGeom>
        </p:spPr>
      </p:pic>
      <p:sp>
        <p:nvSpPr>
          <p:cNvPr id="19" name="Text 13"/>
          <p:cNvSpPr txBox="1"/>
          <p:nvPr/>
        </p:nvSpPr>
        <p:spPr>
          <a:xfrm>
            <a:off x="6446520" y="374904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README.md</a:t>
            </a:r>
            <a:endParaRPr lang="en-US" sz="1300" dirty="0"/>
          </a:p>
        </p:txBody>
      </p:sp>
      <p:sp>
        <p:nvSpPr>
          <p:cNvPr id="20" name="Text 14"/>
          <p:cNvSpPr txBox="1"/>
          <p:nvPr/>
        </p:nvSpPr>
        <p:spPr>
          <a:xfrm>
            <a:off x="6446520" y="4041648"/>
            <a:ext cx="2011680" cy="411480"/>
          </a:xfrm>
          <a:prstGeom prst="rect">
            <a:avLst/>
          </a:prstGeom>
          <a:noFill/>
          <a:ln/>
        </p:spPr>
        <p:txBody>
          <a:bodyPr wrap="square" lIns="0" tIns="0" rIns="0" bIns="0" rtlCol="0" anchor="t"/>
          <a:lstStyle/>
          <a:p>
            <a:pPr indent="0" marL="0">
              <a:buNone/>
            </a:pPr>
            <a:r>
              <a:rPr lang="en-US" sz="1100" dirty="0">
                <a:solidFill>
                  <a:srgbClr val="E6EEF5"/>
                </a:solidFill>
                <a:latin typeface="Calibri" pitchFamily="34" charset="0"/>
                <a:ea typeface="Calibri" pitchFamily="34" charset="-122"/>
                <a:cs typeface="Calibri" pitchFamily="34" charset="-120"/>
              </a:rPr>
              <a:t>Usage instructions and theory</a:t>
            </a:r>
            <a:endParaRPr lang="en-US" sz="1100" dirty="0"/>
          </a:p>
        </p:txBody>
      </p:sp>
      <p:sp>
        <p:nvSpPr>
          <p:cNvPr id="21" name="Text 15"/>
          <p:cNvSpPr txBox="1"/>
          <p:nvPr/>
        </p:nvSpPr>
        <p:spPr>
          <a:xfrm>
            <a:off x="5669280" y="2212848"/>
            <a:ext cx="2926080" cy="219456"/>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GUI imports the core logic</a:t>
            </a:r>
            <a:endParaRPr lang="en-US" sz="1000" dirty="0"/>
          </a:p>
        </p:txBody>
      </p:sp>
      <p:sp>
        <p:nvSpPr>
          <p:cNvPr id="22" name="Text 16"/>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3" name="Text 17"/>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PROCESS</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Methodology: Step by Step</a:t>
            </a:r>
            <a:endParaRPr lang="en-US" sz="3000" dirty="0"/>
          </a:p>
        </p:txBody>
      </p:sp>
      <p:sp>
        <p:nvSpPr>
          <p:cNvPr id="4" name="Shape 2"/>
          <p:cNvSpPr/>
          <p:nvPr/>
        </p:nvSpPr>
        <p:spPr>
          <a:xfrm>
            <a:off x="548640" y="1325880"/>
            <a:ext cx="1874520" cy="3200400"/>
          </a:xfrm>
          <a:prstGeom prst="roundRect">
            <a:avLst>
              <a:gd name="adj" fmla="val 4878"/>
            </a:avLst>
          </a:prstGeom>
          <a:solidFill>
            <a:srgbClr val="F4F6F8"/>
          </a:solidFill>
          <a:ln w="9525">
            <a:solidFill>
              <a:srgbClr val="DCE3EA"/>
            </a:solidFill>
            <a:prstDash val="solid"/>
          </a:ln>
        </p:spPr>
      </p:sp>
      <p:sp>
        <p:nvSpPr>
          <p:cNvPr id="5" name="Shape 3"/>
          <p:cNvSpPr/>
          <p:nvPr/>
        </p:nvSpPr>
        <p:spPr>
          <a:xfrm>
            <a:off x="731520" y="1508760"/>
            <a:ext cx="502920" cy="502920"/>
          </a:xfrm>
          <a:prstGeom prst="ellipse">
            <a:avLst/>
          </a:prstGeom>
          <a:solidFill>
            <a:srgbClr val="2A9D8F"/>
          </a:solidFill>
          <a:ln w="12700">
            <a:solidFill>
              <a:srgbClr val="2A9D8F"/>
            </a:solidFill>
            <a:prstDash val="solid"/>
          </a:ln>
        </p:spPr>
      </p:sp>
      <p:sp>
        <p:nvSpPr>
          <p:cNvPr id="6" name="Text 4"/>
          <p:cNvSpPr txBox="1"/>
          <p:nvPr/>
        </p:nvSpPr>
        <p:spPr>
          <a:xfrm>
            <a:off x="731520" y="1508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31520" y="2148840"/>
            <a:ext cx="1508760" cy="32004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Verify core code</a:t>
            </a:r>
            <a:endParaRPr lang="en-US" sz="1500" dirty="0"/>
          </a:p>
        </p:txBody>
      </p:sp>
      <p:sp>
        <p:nvSpPr>
          <p:cNvPr id="8" name="Text 6"/>
          <p:cNvSpPr txBox="1"/>
          <p:nvPr/>
        </p:nvSpPr>
        <p:spPr>
          <a:xfrm>
            <a:off x="731520" y="2514600"/>
            <a:ext cx="1508760" cy="114300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Ran the built-in demo to confirm encryption, decryption and frequency calculations work.</a:t>
            </a:r>
            <a:endParaRPr lang="en-US" sz="1200" dirty="0"/>
          </a:p>
        </p:txBody>
      </p:sp>
      <p:sp>
        <p:nvSpPr>
          <p:cNvPr id="9" name="Shape 7"/>
          <p:cNvSpPr/>
          <p:nvPr/>
        </p:nvSpPr>
        <p:spPr>
          <a:xfrm>
            <a:off x="685800" y="3749040"/>
            <a:ext cx="1600200" cy="594360"/>
          </a:xfrm>
          <a:prstGeom prst="roundRect">
            <a:avLst>
              <a:gd name="adj" fmla="val 9231"/>
            </a:avLst>
          </a:prstGeom>
          <a:solidFill>
            <a:srgbClr val="0E1A2B"/>
          </a:solidFill>
          <a:ln w="12700">
            <a:solidFill>
              <a:srgbClr val="0E1A2B"/>
            </a:solidFill>
            <a:prstDash val="solid"/>
          </a:ln>
        </p:spPr>
      </p:sp>
      <p:sp>
        <p:nvSpPr>
          <p:cNvPr id="10" name="Text 8"/>
          <p:cNvSpPr txBox="1"/>
          <p:nvPr/>
        </p:nvSpPr>
        <p:spPr>
          <a:xfrm>
            <a:off x="749808" y="3749040"/>
            <a:ext cx="1472184" cy="594360"/>
          </a:xfrm>
          <a:prstGeom prst="rect">
            <a:avLst/>
          </a:prstGeom>
          <a:noFill/>
          <a:ln/>
        </p:spPr>
        <p:txBody>
          <a:bodyPr wrap="square" lIns="0" tIns="0" rIns="0" bIns="0" rtlCol="0" anchor="ctr"/>
          <a:lstStyle/>
          <a:p>
            <a:pPr indent="0" marL="0">
              <a:buNone/>
            </a:pPr>
            <a:r>
              <a:rPr lang="en-US" sz="900" dirty="0">
                <a:solidFill>
                  <a:srgbClr val="F4B942"/>
                </a:solidFill>
                <a:latin typeface="Courier New" pitchFamily="34" charset="0"/>
                <a:ea typeface="Courier New" pitchFamily="34" charset="-122"/>
                <a:cs typeface="Courier New" pitchFamily="34" charset="-120"/>
              </a:rPr>
              <a:t>python3 cipher_tool.py demo</a:t>
            </a:r>
            <a:endParaRPr lang="en-US" sz="900" dirty="0"/>
          </a:p>
        </p:txBody>
      </p:sp>
      <p:sp>
        <p:nvSpPr>
          <p:cNvPr id="11" name="Shape 9"/>
          <p:cNvSpPr/>
          <p:nvPr/>
        </p:nvSpPr>
        <p:spPr>
          <a:xfrm>
            <a:off x="2606040" y="1325880"/>
            <a:ext cx="1874520" cy="3200400"/>
          </a:xfrm>
          <a:prstGeom prst="roundRect">
            <a:avLst>
              <a:gd name="adj" fmla="val 4878"/>
            </a:avLst>
          </a:prstGeom>
          <a:solidFill>
            <a:srgbClr val="F4F6F8"/>
          </a:solidFill>
          <a:ln w="9525">
            <a:solidFill>
              <a:srgbClr val="DCE3EA"/>
            </a:solidFill>
            <a:prstDash val="solid"/>
          </a:ln>
        </p:spPr>
      </p:sp>
      <p:sp>
        <p:nvSpPr>
          <p:cNvPr id="12" name="Shape 10"/>
          <p:cNvSpPr/>
          <p:nvPr/>
        </p:nvSpPr>
        <p:spPr>
          <a:xfrm>
            <a:off x="2788920" y="1508760"/>
            <a:ext cx="502920" cy="502920"/>
          </a:xfrm>
          <a:prstGeom prst="ellipse">
            <a:avLst/>
          </a:prstGeom>
          <a:solidFill>
            <a:srgbClr val="2A9D8F"/>
          </a:solidFill>
          <a:ln w="12700">
            <a:solidFill>
              <a:srgbClr val="2A9D8F"/>
            </a:solidFill>
            <a:prstDash val="solid"/>
          </a:ln>
        </p:spPr>
      </p:sp>
      <p:sp>
        <p:nvSpPr>
          <p:cNvPr id="13" name="Text 11"/>
          <p:cNvSpPr txBox="1"/>
          <p:nvPr/>
        </p:nvSpPr>
        <p:spPr>
          <a:xfrm>
            <a:off x="2788920" y="1508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2788920" y="2148840"/>
            <a:ext cx="1508760" cy="32004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Crack Caesar</a:t>
            </a:r>
            <a:endParaRPr lang="en-US" sz="1500" dirty="0"/>
          </a:p>
        </p:txBody>
      </p:sp>
      <p:sp>
        <p:nvSpPr>
          <p:cNvPr id="15" name="Text 13"/>
          <p:cNvSpPr txBox="1"/>
          <p:nvPr/>
        </p:nvSpPr>
        <p:spPr>
          <a:xfrm>
            <a:off x="2788920" y="2514600"/>
            <a:ext cx="1508760" cy="114300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Tested chi-squared analysis on a Caesar ciphertext to find the shift with no key.</a:t>
            </a:r>
            <a:endParaRPr lang="en-US" sz="1200" dirty="0"/>
          </a:p>
        </p:txBody>
      </p:sp>
      <p:sp>
        <p:nvSpPr>
          <p:cNvPr id="16" name="Shape 14"/>
          <p:cNvSpPr/>
          <p:nvPr/>
        </p:nvSpPr>
        <p:spPr>
          <a:xfrm>
            <a:off x="2743200" y="3749040"/>
            <a:ext cx="1600200" cy="594360"/>
          </a:xfrm>
          <a:prstGeom prst="roundRect">
            <a:avLst>
              <a:gd name="adj" fmla="val 9231"/>
            </a:avLst>
          </a:prstGeom>
          <a:solidFill>
            <a:srgbClr val="0E1A2B"/>
          </a:solidFill>
          <a:ln w="12700">
            <a:solidFill>
              <a:srgbClr val="0E1A2B"/>
            </a:solidFill>
            <a:prstDash val="solid"/>
          </a:ln>
        </p:spPr>
      </p:sp>
      <p:sp>
        <p:nvSpPr>
          <p:cNvPr id="17" name="Text 15"/>
          <p:cNvSpPr txBox="1"/>
          <p:nvPr/>
        </p:nvSpPr>
        <p:spPr>
          <a:xfrm>
            <a:off x="2807208" y="3749040"/>
            <a:ext cx="1472184" cy="594360"/>
          </a:xfrm>
          <a:prstGeom prst="rect">
            <a:avLst/>
          </a:prstGeom>
          <a:noFill/>
          <a:ln/>
        </p:spPr>
        <p:txBody>
          <a:bodyPr wrap="square" lIns="0" tIns="0" rIns="0" bIns="0" rtlCol="0" anchor="ctr"/>
          <a:lstStyle/>
          <a:p>
            <a:pPr indent="0" marL="0">
              <a:buNone/>
            </a:pPr>
            <a:r>
              <a:rPr lang="en-US" sz="900" dirty="0">
                <a:solidFill>
                  <a:srgbClr val="F4B942"/>
                </a:solidFill>
                <a:latin typeface="Courier New" pitchFamily="34" charset="0"/>
                <a:ea typeface="Courier New" pitchFamily="34" charset="-122"/>
                <a:cs typeface="Courier New" pitchFamily="34" charset="-120"/>
              </a:rPr>
              <a:t>python3 cipher_tool.py caesar-crack "..."</a:t>
            </a:r>
            <a:endParaRPr lang="en-US" sz="900" dirty="0"/>
          </a:p>
        </p:txBody>
      </p:sp>
      <p:sp>
        <p:nvSpPr>
          <p:cNvPr id="18" name="Shape 16"/>
          <p:cNvSpPr/>
          <p:nvPr/>
        </p:nvSpPr>
        <p:spPr>
          <a:xfrm>
            <a:off x="4663440" y="1325880"/>
            <a:ext cx="1874520" cy="3200400"/>
          </a:xfrm>
          <a:prstGeom prst="roundRect">
            <a:avLst>
              <a:gd name="adj" fmla="val 4878"/>
            </a:avLst>
          </a:prstGeom>
          <a:solidFill>
            <a:srgbClr val="F4F6F8"/>
          </a:solidFill>
          <a:ln w="9525">
            <a:solidFill>
              <a:srgbClr val="DCE3EA"/>
            </a:solidFill>
            <a:prstDash val="solid"/>
          </a:ln>
        </p:spPr>
      </p:sp>
      <p:sp>
        <p:nvSpPr>
          <p:cNvPr id="19" name="Shape 17"/>
          <p:cNvSpPr/>
          <p:nvPr/>
        </p:nvSpPr>
        <p:spPr>
          <a:xfrm>
            <a:off x="4846320" y="1508760"/>
            <a:ext cx="502920" cy="502920"/>
          </a:xfrm>
          <a:prstGeom prst="ellipse">
            <a:avLst/>
          </a:prstGeom>
          <a:solidFill>
            <a:srgbClr val="2A9D8F"/>
          </a:solidFill>
          <a:ln w="12700">
            <a:solidFill>
              <a:srgbClr val="2A9D8F"/>
            </a:solidFill>
            <a:prstDash val="solid"/>
          </a:ln>
        </p:spPr>
      </p:sp>
      <p:sp>
        <p:nvSpPr>
          <p:cNvPr id="20" name="Text 18"/>
          <p:cNvSpPr txBox="1"/>
          <p:nvPr/>
        </p:nvSpPr>
        <p:spPr>
          <a:xfrm>
            <a:off x="4846320" y="1508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4846320" y="2148840"/>
            <a:ext cx="1508760" cy="32004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Launch the GUI</a:t>
            </a:r>
            <a:endParaRPr lang="en-US" sz="1500" dirty="0"/>
          </a:p>
        </p:txBody>
      </p:sp>
      <p:sp>
        <p:nvSpPr>
          <p:cNvPr id="22" name="Text 20"/>
          <p:cNvSpPr txBox="1"/>
          <p:nvPr/>
        </p:nvSpPr>
        <p:spPr>
          <a:xfrm>
            <a:off x="4846320" y="2514600"/>
            <a:ext cx="1508760" cy="114300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Opened the Tkinter desktop interface that calls cipher_tool.py in real time.</a:t>
            </a:r>
            <a:endParaRPr lang="en-US" sz="1200" dirty="0"/>
          </a:p>
        </p:txBody>
      </p:sp>
      <p:sp>
        <p:nvSpPr>
          <p:cNvPr id="23" name="Shape 21"/>
          <p:cNvSpPr/>
          <p:nvPr/>
        </p:nvSpPr>
        <p:spPr>
          <a:xfrm>
            <a:off x="4800600" y="3749040"/>
            <a:ext cx="1600200" cy="594360"/>
          </a:xfrm>
          <a:prstGeom prst="roundRect">
            <a:avLst>
              <a:gd name="adj" fmla="val 9231"/>
            </a:avLst>
          </a:prstGeom>
          <a:solidFill>
            <a:srgbClr val="0E1A2B"/>
          </a:solidFill>
          <a:ln w="12700">
            <a:solidFill>
              <a:srgbClr val="0E1A2B"/>
            </a:solidFill>
            <a:prstDash val="solid"/>
          </a:ln>
        </p:spPr>
      </p:sp>
      <p:sp>
        <p:nvSpPr>
          <p:cNvPr id="24" name="Text 22"/>
          <p:cNvSpPr txBox="1"/>
          <p:nvPr/>
        </p:nvSpPr>
        <p:spPr>
          <a:xfrm>
            <a:off x="4864608" y="3749040"/>
            <a:ext cx="1472184" cy="594360"/>
          </a:xfrm>
          <a:prstGeom prst="rect">
            <a:avLst/>
          </a:prstGeom>
          <a:noFill/>
          <a:ln/>
        </p:spPr>
        <p:txBody>
          <a:bodyPr wrap="square" lIns="0" tIns="0" rIns="0" bIns="0" rtlCol="0" anchor="ctr"/>
          <a:lstStyle/>
          <a:p>
            <a:pPr indent="0" marL="0">
              <a:buNone/>
            </a:pPr>
            <a:r>
              <a:rPr lang="en-US" sz="900" dirty="0">
                <a:solidFill>
                  <a:srgbClr val="F4B942"/>
                </a:solidFill>
                <a:latin typeface="Courier New" pitchFamily="34" charset="0"/>
                <a:ea typeface="Courier New" pitchFamily="34" charset="-122"/>
                <a:cs typeface="Courier New" pitchFamily="34" charset="-120"/>
              </a:rPr>
              <a:t>python3 cipher_gui.py</a:t>
            </a:r>
            <a:endParaRPr lang="en-US" sz="900" dirty="0"/>
          </a:p>
        </p:txBody>
      </p:sp>
      <p:sp>
        <p:nvSpPr>
          <p:cNvPr id="25" name="Shape 23"/>
          <p:cNvSpPr/>
          <p:nvPr/>
        </p:nvSpPr>
        <p:spPr>
          <a:xfrm>
            <a:off x="6720840" y="1325880"/>
            <a:ext cx="1874520" cy="3200400"/>
          </a:xfrm>
          <a:prstGeom prst="roundRect">
            <a:avLst>
              <a:gd name="adj" fmla="val 4878"/>
            </a:avLst>
          </a:prstGeom>
          <a:solidFill>
            <a:srgbClr val="F4F6F8"/>
          </a:solidFill>
          <a:ln w="9525">
            <a:solidFill>
              <a:srgbClr val="DCE3EA"/>
            </a:solidFill>
            <a:prstDash val="solid"/>
          </a:ln>
        </p:spPr>
      </p:sp>
      <p:sp>
        <p:nvSpPr>
          <p:cNvPr id="26" name="Shape 24"/>
          <p:cNvSpPr/>
          <p:nvPr/>
        </p:nvSpPr>
        <p:spPr>
          <a:xfrm>
            <a:off x="6903720" y="1508760"/>
            <a:ext cx="502920" cy="502920"/>
          </a:xfrm>
          <a:prstGeom prst="ellipse">
            <a:avLst/>
          </a:prstGeom>
          <a:solidFill>
            <a:srgbClr val="F4B942"/>
          </a:solidFill>
          <a:ln w="12700">
            <a:solidFill>
              <a:srgbClr val="F4B942"/>
            </a:solidFill>
            <a:prstDash val="solid"/>
          </a:ln>
        </p:spPr>
      </p:sp>
      <p:sp>
        <p:nvSpPr>
          <p:cNvPr id="27" name="Text 25"/>
          <p:cNvSpPr txBox="1"/>
          <p:nvPr/>
        </p:nvSpPr>
        <p:spPr>
          <a:xfrm>
            <a:off x="6903720" y="1508760"/>
            <a:ext cx="502920" cy="502920"/>
          </a:xfrm>
          <a:prstGeom prst="rect">
            <a:avLst/>
          </a:prstGeom>
          <a:noFill/>
          <a:ln/>
        </p:spPr>
        <p:txBody>
          <a:bodyPr wrap="square" lIns="0" tIns="0" rIns="0" bIns="0" rtlCol="0" anchor="ctr"/>
          <a:lstStyle/>
          <a:p>
            <a:pPr algn="ctr" indent="0" marL="0">
              <a:buNone/>
            </a:pPr>
            <a:r>
              <a:rPr lang="en-US" sz="2000" b="1" dirty="0">
                <a:solidFill>
                  <a:srgbClr val="0E1A2B"/>
                </a:solidFill>
                <a:latin typeface="Cambria" pitchFamily="34" charset="0"/>
                <a:ea typeface="Cambria" pitchFamily="34" charset="-122"/>
                <a:cs typeface="Cambria" pitchFamily="34" charset="-120"/>
              </a:rPr>
              <a:t>4</a:t>
            </a:r>
            <a:endParaRPr lang="en-US" sz="2000" dirty="0"/>
          </a:p>
        </p:txBody>
      </p:sp>
      <p:sp>
        <p:nvSpPr>
          <p:cNvPr id="28" name="Text 26"/>
          <p:cNvSpPr txBox="1"/>
          <p:nvPr/>
        </p:nvSpPr>
        <p:spPr>
          <a:xfrm>
            <a:off x="6903720" y="2148840"/>
            <a:ext cx="1508760" cy="32004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Crack Vigenère</a:t>
            </a:r>
            <a:endParaRPr lang="en-US" sz="1500" dirty="0"/>
          </a:p>
        </p:txBody>
      </p:sp>
      <p:sp>
        <p:nvSpPr>
          <p:cNvPr id="29" name="Text 27"/>
          <p:cNvSpPr txBox="1"/>
          <p:nvPr/>
        </p:nvSpPr>
        <p:spPr>
          <a:xfrm>
            <a:off x="6903720" y="2514600"/>
            <a:ext cx="1508760" cy="114300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Used Kasiski and IoC to rank key lengths, extract the keyword and decrypt.</a:t>
            </a:r>
            <a:endParaRPr lang="en-US" sz="1200" dirty="0"/>
          </a:p>
        </p:txBody>
      </p:sp>
      <p:sp>
        <p:nvSpPr>
          <p:cNvPr id="30" name="Shape 28"/>
          <p:cNvSpPr/>
          <p:nvPr/>
        </p:nvSpPr>
        <p:spPr>
          <a:xfrm>
            <a:off x="6858000" y="3749040"/>
            <a:ext cx="1600200" cy="594360"/>
          </a:xfrm>
          <a:prstGeom prst="roundRect">
            <a:avLst>
              <a:gd name="adj" fmla="val 9231"/>
            </a:avLst>
          </a:prstGeom>
          <a:solidFill>
            <a:srgbClr val="0E1A2B"/>
          </a:solidFill>
          <a:ln w="12700">
            <a:solidFill>
              <a:srgbClr val="0E1A2B"/>
            </a:solidFill>
            <a:prstDash val="solid"/>
          </a:ln>
        </p:spPr>
      </p:sp>
      <p:sp>
        <p:nvSpPr>
          <p:cNvPr id="31" name="Text 29"/>
          <p:cNvSpPr txBox="1"/>
          <p:nvPr/>
        </p:nvSpPr>
        <p:spPr>
          <a:xfrm>
            <a:off x="6922008" y="3749040"/>
            <a:ext cx="1472184" cy="594360"/>
          </a:xfrm>
          <a:prstGeom prst="rect">
            <a:avLst/>
          </a:prstGeom>
          <a:noFill/>
          <a:ln/>
        </p:spPr>
        <p:txBody>
          <a:bodyPr wrap="square" lIns="0" tIns="0" rIns="0" bIns="0" rtlCol="0" anchor="ctr"/>
          <a:lstStyle/>
          <a:p>
            <a:pPr indent="0" marL="0">
              <a:buNone/>
            </a:pPr>
            <a:r>
              <a:rPr lang="en-US" sz="900" dirty="0">
                <a:solidFill>
                  <a:srgbClr val="F4B942"/>
                </a:solidFill>
                <a:latin typeface="Courier New" pitchFamily="34" charset="0"/>
                <a:ea typeface="Courier New" pitchFamily="34" charset="-122"/>
                <a:cs typeface="Courier New" pitchFamily="34" charset="-120"/>
              </a:rPr>
              <a:t>Vigenère tab: Crack it (no key)</a:t>
            </a:r>
            <a:endParaRPr lang="en-US" sz="900" dirty="0"/>
          </a:p>
        </p:txBody>
      </p:sp>
      <p:sp>
        <p:nvSpPr>
          <p:cNvPr id="32" name="Text 30"/>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33" name="Text 31"/>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LIVE DEMO</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The Cipher Desk: Caesar Panel</a:t>
            </a:r>
            <a:endParaRPr lang="en-US" sz="3000" dirty="0"/>
          </a:p>
        </p:txBody>
      </p:sp>
      <p:sp>
        <p:nvSpPr>
          <p:cNvPr id="4" name="Shape 2"/>
          <p:cNvSpPr/>
          <p:nvPr/>
        </p:nvSpPr>
        <p:spPr>
          <a:xfrm>
            <a:off x="548640" y="1280160"/>
            <a:ext cx="5120640" cy="3389641"/>
          </a:xfrm>
          <a:prstGeom prst="rect">
            <a:avLst/>
          </a:prstGeom>
          <a:solidFill>
            <a:srgbClr val="FFFFFF"/>
          </a:solidFill>
          <a:ln w="12700">
            <a:solidFill>
              <a:srgbClr val="DCE3EA"/>
            </a:solidFill>
            <a:prstDash val="solid"/>
          </a:ln>
          <a:effectLst>
            <a:outerShdw sx="100000" sy="100000" kx="0" ky="0" algn="bl" rotWithShape="0" blurRad="101600" dist="25400" dir="5400000">
              <a:srgbClr val="000000">
                <a:alpha val="12000"/>
              </a:srgbClr>
            </a:outerShdw>
          </a:effectLst>
        </p:spPr>
      </p:sp>
      <p:pic>
        <p:nvPicPr>
          <p:cNvPr id="5" name="Image 0" descr="Caesar cipher panel of The Cipher Desk showing shift 11 encryption and a letter frequency chart">    </p:cNvPr>
          <p:cNvPicPr>
            <a:picLocks noChangeAspect="1"/>
          </p:cNvPicPr>
          <p:nvPr/>
        </p:nvPicPr>
        <p:blipFill>
          <a:blip r:embed="rId1"/>
          <a:stretch>
            <a:fillRect/>
          </a:stretch>
        </p:blipFill>
        <p:spPr>
          <a:xfrm>
            <a:off x="548640" y="1280160"/>
            <a:ext cx="5120640" cy="3389641"/>
          </a:xfrm>
          <a:prstGeom prst="rect">
            <a:avLst/>
          </a:prstGeom>
        </p:spPr>
      </p:pic>
      <p:sp>
        <p:nvSpPr>
          <p:cNvPr id="6" name="Text 3"/>
          <p:cNvSpPr txBox="1"/>
          <p:nvPr/>
        </p:nvSpPr>
        <p:spPr>
          <a:xfrm>
            <a:off x="5943600" y="1280160"/>
            <a:ext cx="2651760" cy="32004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Shift 11 example</a:t>
            </a:r>
            <a:endParaRPr lang="en-US" sz="1800" dirty="0"/>
          </a:p>
        </p:txBody>
      </p:sp>
      <p:sp>
        <p:nvSpPr>
          <p:cNvPr id="7" name="Text 4"/>
          <p:cNvSpPr txBox="1"/>
          <p:nvPr/>
        </p:nvSpPr>
        <p:spPr>
          <a:xfrm>
            <a:off x="5943600" y="1691640"/>
            <a:ext cx="2651760" cy="182880"/>
          </a:xfrm>
          <a:prstGeom prst="rect">
            <a:avLst/>
          </a:prstGeom>
          <a:noFill/>
          <a:ln/>
        </p:spPr>
        <p:txBody>
          <a:bodyPr wrap="square" lIns="0" tIns="0" rIns="0" bIns="0" rtlCol="0" anchor="ctr"/>
          <a:lstStyle/>
          <a:p>
            <a:pPr indent="0" marL="0">
              <a:buNone/>
            </a:pPr>
            <a:r>
              <a:rPr lang="en-US" sz="900" b="1" spc="200" kern="0" dirty="0">
                <a:solidFill>
                  <a:srgbClr val="5B6B7B"/>
                </a:solidFill>
                <a:latin typeface="Calibri" pitchFamily="34" charset="0"/>
                <a:ea typeface="Calibri" pitchFamily="34" charset="-122"/>
                <a:cs typeface="Calibri" pitchFamily="34" charset="-120"/>
              </a:rPr>
              <a:t>INPUT</a:t>
            </a:r>
            <a:endParaRPr lang="en-US" sz="900" dirty="0"/>
          </a:p>
        </p:txBody>
      </p:sp>
      <p:sp>
        <p:nvSpPr>
          <p:cNvPr id="8" name="Text 5"/>
          <p:cNvSpPr txBox="1"/>
          <p:nvPr/>
        </p:nvSpPr>
        <p:spPr>
          <a:xfrm>
            <a:off x="5943600" y="1874520"/>
            <a:ext cx="2651760" cy="274320"/>
          </a:xfrm>
          <a:prstGeom prst="rect">
            <a:avLst/>
          </a:prstGeom>
          <a:noFill/>
          <a:ln/>
        </p:spPr>
        <p:txBody>
          <a:bodyPr wrap="square" lIns="0" tIns="0" rIns="0" bIns="0" rtlCol="0" anchor="ctr"/>
          <a:lstStyle/>
          <a:p>
            <a:pPr indent="0" marL="0">
              <a:buNone/>
            </a:pPr>
            <a:r>
              <a:rPr lang="en-US" sz="1100" dirty="0">
                <a:solidFill>
                  <a:srgbClr val="1C2833"/>
                </a:solidFill>
                <a:latin typeface="Courier New" pitchFamily="34" charset="0"/>
                <a:ea typeface="Courier New" pitchFamily="34" charset="-122"/>
                <a:cs typeface="Courier New" pitchFamily="34" charset="-120"/>
              </a:rPr>
              <a:t>Trainer Name GAneSH KUcHe</a:t>
            </a:r>
            <a:endParaRPr lang="en-US" sz="1100" dirty="0"/>
          </a:p>
        </p:txBody>
      </p:sp>
      <p:sp>
        <p:nvSpPr>
          <p:cNvPr id="9" name="Text 6"/>
          <p:cNvSpPr txBox="1"/>
          <p:nvPr/>
        </p:nvSpPr>
        <p:spPr>
          <a:xfrm>
            <a:off x="5943600" y="2286000"/>
            <a:ext cx="2651760" cy="182880"/>
          </a:xfrm>
          <a:prstGeom prst="rect">
            <a:avLst/>
          </a:prstGeom>
          <a:noFill/>
          <a:ln/>
        </p:spPr>
        <p:txBody>
          <a:bodyPr wrap="square" lIns="0" tIns="0" rIns="0" bIns="0" rtlCol="0" anchor="ctr"/>
          <a:lstStyle/>
          <a:p>
            <a:pPr indent="0" marL="0">
              <a:buNone/>
            </a:pPr>
            <a:r>
              <a:rPr lang="en-US" sz="900" b="1" spc="200" kern="0" dirty="0">
                <a:solidFill>
                  <a:srgbClr val="5B6B7B"/>
                </a:solidFill>
                <a:latin typeface="Calibri" pitchFamily="34" charset="0"/>
                <a:ea typeface="Calibri" pitchFamily="34" charset="-122"/>
                <a:cs typeface="Calibri" pitchFamily="34" charset="-120"/>
              </a:rPr>
              <a:t>OUTPUT</a:t>
            </a:r>
            <a:endParaRPr lang="en-US" sz="900" dirty="0"/>
          </a:p>
        </p:txBody>
      </p:sp>
      <p:sp>
        <p:nvSpPr>
          <p:cNvPr id="10" name="Text 7"/>
          <p:cNvSpPr txBox="1"/>
          <p:nvPr/>
        </p:nvSpPr>
        <p:spPr>
          <a:xfrm>
            <a:off x="5943600" y="2468880"/>
            <a:ext cx="2651760" cy="274320"/>
          </a:xfrm>
          <a:prstGeom prst="rect">
            <a:avLst/>
          </a:prstGeom>
          <a:noFill/>
          <a:ln/>
        </p:spPr>
        <p:txBody>
          <a:bodyPr wrap="square" lIns="0" tIns="0" rIns="0" bIns="0" rtlCol="0" anchor="ctr"/>
          <a:lstStyle/>
          <a:p>
            <a:pPr indent="0" marL="0">
              <a:buNone/>
            </a:pPr>
            <a:r>
              <a:rPr lang="en-US" sz="1100" b="1" dirty="0">
                <a:solidFill>
                  <a:srgbClr val="2A9D8F"/>
                </a:solidFill>
                <a:latin typeface="Courier New" pitchFamily="34" charset="0"/>
                <a:ea typeface="Courier New" pitchFamily="34" charset="-122"/>
                <a:cs typeface="Courier New" pitchFamily="34" charset="-120"/>
              </a:rPr>
              <a:t>Ecltypc Ylxp RLypDS VFnSp</a:t>
            </a:r>
            <a:endParaRPr lang="en-US" sz="1100" dirty="0"/>
          </a:p>
        </p:txBody>
      </p:sp>
      <p:sp>
        <p:nvSpPr>
          <p:cNvPr id="11" name="Text 8"/>
          <p:cNvSpPr txBox="1"/>
          <p:nvPr/>
        </p:nvSpPr>
        <p:spPr>
          <a:xfrm>
            <a:off x="5943600" y="2926080"/>
            <a:ext cx="265176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Encrypt or decrypt with a 0 to 25 shift slider</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Crack it (no key) finds the shift automatically</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Red bars show your text; tan bars show standard English</a:t>
            </a:r>
            <a:endParaRPr lang="en-US" sz="1200" dirty="0"/>
          </a:p>
        </p:txBody>
      </p:sp>
      <p:sp>
        <p:nvSpPr>
          <p:cNvPr id="12" name="Text 9"/>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13" name="Text 10"/>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LIVE DEMO</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The Cipher Desk: Vigenère Panel</a:t>
            </a:r>
            <a:endParaRPr lang="en-US" sz="3000" dirty="0"/>
          </a:p>
        </p:txBody>
      </p:sp>
      <p:sp>
        <p:nvSpPr>
          <p:cNvPr id="4" name="Shape 2"/>
          <p:cNvSpPr/>
          <p:nvPr/>
        </p:nvSpPr>
        <p:spPr>
          <a:xfrm>
            <a:off x="4557503" y="1280160"/>
            <a:ext cx="4037857" cy="3246120"/>
          </a:xfrm>
          <a:prstGeom prst="rect">
            <a:avLst/>
          </a:prstGeom>
          <a:solidFill>
            <a:srgbClr val="FFFFFF"/>
          </a:solidFill>
          <a:ln w="12700">
            <a:solidFill>
              <a:srgbClr val="DCE3EA"/>
            </a:solidFill>
            <a:prstDash val="solid"/>
          </a:ln>
          <a:effectLst>
            <a:outerShdw sx="100000" sy="100000" kx="0" ky="0" algn="bl" rotWithShape="0" blurRad="101600" dist="25400" dir="5400000">
              <a:srgbClr val="000000">
                <a:alpha val="12000"/>
              </a:srgbClr>
            </a:outerShdw>
          </a:effectLst>
        </p:spPr>
      </p:sp>
      <p:pic>
        <p:nvPicPr>
          <p:cNvPr id="5" name="Image 0" descr="Vigenere cipher panel showing keyword lemon aligned under the text and the encrypted result">    </p:cNvPr>
          <p:cNvPicPr>
            <a:picLocks noChangeAspect="1"/>
          </p:cNvPicPr>
          <p:nvPr/>
        </p:nvPicPr>
        <p:blipFill>
          <a:blip r:embed="rId1"/>
          <a:stretch>
            <a:fillRect/>
          </a:stretch>
        </p:blipFill>
        <p:spPr>
          <a:xfrm>
            <a:off x="4557503" y="1280160"/>
            <a:ext cx="4037857" cy="3246120"/>
          </a:xfrm>
          <a:prstGeom prst="rect">
            <a:avLst/>
          </a:prstGeom>
        </p:spPr>
      </p:pic>
      <p:sp>
        <p:nvSpPr>
          <p:cNvPr id="6" name="Text 3"/>
          <p:cNvSpPr txBox="1"/>
          <p:nvPr/>
        </p:nvSpPr>
        <p:spPr>
          <a:xfrm>
            <a:off x="548640" y="1280160"/>
            <a:ext cx="3643103" cy="36576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Key alignment made visible</a:t>
            </a:r>
            <a:endParaRPr lang="en-US" sz="1800" dirty="0"/>
          </a:p>
        </p:txBody>
      </p:sp>
      <p:sp>
        <p:nvSpPr>
          <p:cNvPr id="7" name="Text 4"/>
          <p:cNvSpPr txBox="1"/>
          <p:nvPr/>
        </p:nvSpPr>
        <p:spPr>
          <a:xfrm>
            <a:off x="548640" y="1783080"/>
            <a:ext cx="3643103" cy="548640"/>
          </a:xfrm>
          <a:prstGeom prst="rect">
            <a:avLst/>
          </a:prstGeom>
          <a:noFill/>
          <a:ln/>
        </p:spPr>
        <p:txBody>
          <a:bodyPr wrap="square" lIns="0" tIns="0" rIns="0" bIns="0" rtlCol="0" anchor="t"/>
          <a:lstStyle/>
          <a:p>
            <a:pPr indent="0" marL="0">
              <a:buNone/>
            </a:pPr>
            <a:r>
              <a:rPr lang="en-US" sz="1200" b="1" dirty="0">
                <a:solidFill>
                  <a:srgbClr val="1C2833"/>
                </a:solidFill>
                <a:latin typeface="Calibri" pitchFamily="34" charset="0"/>
                <a:ea typeface="Calibri" pitchFamily="34" charset="-122"/>
                <a:cs typeface="Calibri" pitchFamily="34" charset="-120"/>
              </a:rPr>
              <a:t>Keyword </a:t>
            </a:r>
            <a:pPr indent="0" marL="0">
              <a:buNone/>
            </a:pPr>
            <a:r>
              <a:rPr lang="en-US" sz="1200" b="1" dirty="0">
                <a:solidFill>
                  <a:srgbClr val="2A9D8F"/>
                </a:solidFill>
                <a:latin typeface="Courier New" pitchFamily="34" charset="0"/>
                <a:ea typeface="Courier New" pitchFamily="34" charset="-122"/>
                <a:cs typeface="Courier New" pitchFamily="34" charset="-120"/>
              </a:rPr>
              <a:t>lemon</a:t>
            </a:r>
            <a:pPr indent="0" marL="0">
              <a:buNone/>
            </a:pPr>
            <a:r>
              <a:rPr lang="en-US" sz="1200" dirty="0">
                <a:solidFill>
                  <a:srgbClr val="1C2833"/>
                </a:solidFill>
                <a:latin typeface="Calibri" pitchFamily="34" charset="0"/>
                <a:ea typeface="Calibri" pitchFamily="34" charset="-122"/>
                <a:cs typeface="Calibri" pitchFamily="34" charset="-120"/>
              </a:rPr>
              <a:t> repeats letter by letter, choosing a different shift each time</a:t>
            </a:r>
            <a:endParaRPr lang="en-US" sz="1200" dirty="0"/>
          </a:p>
        </p:txBody>
      </p:sp>
      <p:sp>
        <p:nvSpPr>
          <p:cNvPr id="8" name="Text 5"/>
          <p:cNvSpPr txBox="1"/>
          <p:nvPr/>
        </p:nvSpPr>
        <p:spPr>
          <a:xfrm>
            <a:off x="548640" y="2468880"/>
            <a:ext cx="3643103"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The panel shows how the keyword lines up under the text</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Crack it (no key) evaluates candidate key lengths and plots IoC against an English threshold</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The keyword is extracted and the message decrypted</a:t>
            </a:r>
            <a:endParaRPr lang="en-US" sz="1200" dirty="0"/>
          </a:p>
        </p:txBody>
      </p:sp>
      <p:sp>
        <p:nvSpPr>
          <p:cNvPr id="9" name="Text 6"/>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10" name="Text 7"/>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SUMMARY OF FINDINGS</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Results &amp; Observations</a:t>
            </a:r>
            <a:endParaRPr lang="en-US" sz="3000" dirty="0"/>
          </a:p>
        </p:txBody>
      </p:sp>
      <p:sp>
        <p:nvSpPr>
          <p:cNvPr id="4" name="Shape 2"/>
          <p:cNvSpPr/>
          <p:nvPr/>
        </p:nvSpPr>
        <p:spPr>
          <a:xfrm>
            <a:off x="548640" y="1325880"/>
            <a:ext cx="2560320" cy="3200400"/>
          </a:xfrm>
          <a:prstGeom prst="roundRect">
            <a:avLst>
              <a:gd name="adj" fmla="val 3571"/>
            </a:avLst>
          </a:prstGeom>
          <a:solidFill>
            <a:srgbClr val="16283F"/>
          </a:solidFill>
          <a:ln w="12700">
            <a:solidFill>
              <a:srgbClr val="2B4463"/>
            </a:solidFill>
            <a:prstDash val="solid"/>
          </a:ln>
        </p:spPr>
      </p:sp>
      <p:sp>
        <p:nvSpPr>
          <p:cNvPr id="5" name="Text 3"/>
          <p:cNvSpPr txBox="1"/>
          <p:nvPr/>
        </p:nvSpPr>
        <p:spPr>
          <a:xfrm>
            <a:off x="777240" y="1508760"/>
            <a:ext cx="1097280" cy="548640"/>
          </a:xfrm>
          <a:prstGeom prst="rect">
            <a:avLst/>
          </a:prstGeom>
          <a:noFill/>
          <a:ln/>
        </p:spPr>
        <p:txBody>
          <a:bodyPr wrap="square" lIns="0" tIns="0" rIns="0" bIns="0" rtlCol="0" anchor="ctr"/>
          <a:lstStyle/>
          <a:p>
            <a:pPr indent="0" marL="0">
              <a:buNone/>
            </a:pPr>
            <a:r>
              <a:rPr lang="en-US" sz="3600" b="1" dirty="0">
                <a:solidFill>
                  <a:srgbClr val="F4B942"/>
                </a:solidFill>
                <a:latin typeface="Cambria" pitchFamily="34" charset="0"/>
                <a:ea typeface="Cambria" pitchFamily="34" charset="-122"/>
                <a:cs typeface="Cambria" pitchFamily="34" charset="-120"/>
              </a:rPr>
              <a:t>01</a:t>
            </a:r>
            <a:endParaRPr lang="en-US" sz="3600" dirty="0"/>
          </a:p>
        </p:txBody>
      </p:sp>
      <p:sp>
        <p:nvSpPr>
          <p:cNvPr id="6" name="Text 4"/>
          <p:cNvSpPr txBox="1"/>
          <p:nvPr/>
        </p:nvSpPr>
        <p:spPr>
          <a:xfrm>
            <a:off x="777240" y="2194560"/>
            <a:ext cx="2103120" cy="5943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Chi-squared efficiency</a:t>
            </a:r>
            <a:endParaRPr lang="en-US" sz="1600" dirty="0"/>
          </a:p>
        </p:txBody>
      </p:sp>
      <p:sp>
        <p:nvSpPr>
          <p:cNvPr id="7" name="Text 5"/>
          <p:cNvSpPr txBox="1"/>
          <p:nvPr/>
        </p:nvSpPr>
        <p:spPr>
          <a:xfrm>
            <a:off x="777240" y="2834640"/>
            <a:ext cx="2103120" cy="1097280"/>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Correct Caesar shifts were found by picking the lowest variance against standard English letter frequencies.</a:t>
            </a:r>
            <a:endParaRPr lang="en-US" sz="1200" dirty="0"/>
          </a:p>
        </p:txBody>
      </p:sp>
      <p:sp>
        <p:nvSpPr>
          <p:cNvPr id="8" name="Shape 6"/>
          <p:cNvSpPr/>
          <p:nvPr/>
        </p:nvSpPr>
        <p:spPr>
          <a:xfrm>
            <a:off x="777240" y="4023360"/>
            <a:ext cx="1371600" cy="301752"/>
          </a:xfrm>
          <a:prstGeom prst="roundRect">
            <a:avLst>
              <a:gd name="adj" fmla="val 48485"/>
            </a:avLst>
          </a:prstGeom>
          <a:solidFill>
            <a:srgbClr val="D1495B"/>
          </a:solidFill>
          <a:ln w="12700">
            <a:solidFill>
              <a:srgbClr val="D1495B"/>
            </a:solidFill>
            <a:prstDash val="solid"/>
          </a:ln>
        </p:spPr>
      </p:sp>
      <p:sp>
        <p:nvSpPr>
          <p:cNvPr id="9" name="Text 7"/>
          <p:cNvSpPr txBox="1"/>
          <p:nvPr/>
        </p:nvSpPr>
        <p:spPr>
          <a:xfrm>
            <a:off x="777240" y="4023360"/>
            <a:ext cx="1371600" cy="3017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IMPACT: HIGH</a:t>
            </a:r>
            <a:endParaRPr lang="en-US" sz="1000" dirty="0"/>
          </a:p>
        </p:txBody>
      </p:sp>
      <p:sp>
        <p:nvSpPr>
          <p:cNvPr id="10" name="Shape 8"/>
          <p:cNvSpPr/>
          <p:nvPr/>
        </p:nvSpPr>
        <p:spPr>
          <a:xfrm>
            <a:off x="3291840" y="1325880"/>
            <a:ext cx="2560320" cy="3200400"/>
          </a:xfrm>
          <a:prstGeom prst="roundRect">
            <a:avLst>
              <a:gd name="adj" fmla="val 3571"/>
            </a:avLst>
          </a:prstGeom>
          <a:solidFill>
            <a:srgbClr val="16283F"/>
          </a:solidFill>
          <a:ln w="12700">
            <a:solidFill>
              <a:srgbClr val="2B4463"/>
            </a:solidFill>
            <a:prstDash val="solid"/>
          </a:ln>
        </p:spPr>
      </p:sp>
      <p:sp>
        <p:nvSpPr>
          <p:cNvPr id="11" name="Text 9"/>
          <p:cNvSpPr txBox="1"/>
          <p:nvPr/>
        </p:nvSpPr>
        <p:spPr>
          <a:xfrm>
            <a:off x="3520440" y="1508760"/>
            <a:ext cx="1097280" cy="548640"/>
          </a:xfrm>
          <a:prstGeom prst="rect">
            <a:avLst/>
          </a:prstGeom>
          <a:noFill/>
          <a:ln/>
        </p:spPr>
        <p:txBody>
          <a:bodyPr wrap="square" lIns="0" tIns="0" rIns="0" bIns="0" rtlCol="0" anchor="ctr"/>
          <a:lstStyle/>
          <a:p>
            <a:pPr indent="0" marL="0">
              <a:buNone/>
            </a:pPr>
            <a:r>
              <a:rPr lang="en-US" sz="3600" b="1" dirty="0">
                <a:solidFill>
                  <a:srgbClr val="F4B942"/>
                </a:solidFill>
                <a:latin typeface="Cambria" pitchFamily="34" charset="0"/>
                <a:ea typeface="Cambria" pitchFamily="34" charset="-122"/>
                <a:cs typeface="Cambria" pitchFamily="34" charset="-120"/>
              </a:rPr>
              <a:t>02</a:t>
            </a:r>
            <a:endParaRPr lang="en-US" sz="3600" dirty="0"/>
          </a:p>
        </p:txBody>
      </p:sp>
      <p:sp>
        <p:nvSpPr>
          <p:cNvPr id="12" name="Text 10"/>
          <p:cNvSpPr txBox="1"/>
          <p:nvPr/>
        </p:nvSpPr>
        <p:spPr>
          <a:xfrm>
            <a:off x="3520440" y="2194560"/>
            <a:ext cx="2103120" cy="5943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Text length dependency</a:t>
            </a:r>
            <a:endParaRPr lang="en-US" sz="1600" dirty="0"/>
          </a:p>
        </p:txBody>
      </p:sp>
      <p:sp>
        <p:nvSpPr>
          <p:cNvPr id="13" name="Text 11"/>
          <p:cNvSpPr txBox="1"/>
          <p:nvPr/>
        </p:nvSpPr>
        <p:spPr>
          <a:xfrm>
            <a:off x="3520440" y="2834640"/>
            <a:ext cx="2103120" cy="1097280"/>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Short ciphertexts gave unstable Index of Coincidence values. Statistical cracking needs enough data.</a:t>
            </a:r>
            <a:endParaRPr lang="en-US" sz="1200" dirty="0"/>
          </a:p>
        </p:txBody>
      </p:sp>
      <p:sp>
        <p:nvSpPr>
          <p:cNvPr id="14" name="Shape 12"/>
          <p:cNvSpPr/>
          <p:nvPr/>
        </p:nvSpPr>
        <p:spPr>
          <a:xfrm>
            <a:off x="3520440" y="4023360"/>
            <a:ext cx="1371600" cy="301752"/>
          </a:xfrm>
          <a:prstGeom prst="roundRect">
            <a:avLst>
              <a:gd name="adj" fmla="val 48485"/>
            </a:avLst>
          </a:prstGeom>
          <a:solidFill>
            <a:srgbClr val="F4B942"/>
          </a:solidFill>
          <a:ln w="12700">
            <a:solidFill>
              <a:srgbClr val="F4B942"/>
            </a:solidFill>
            <a:prstDash val="solid"/>
          </a:ln>
        </p:spPr>
      </p:sp>
      <p:sp>
        <p:nvSpPr>
          <p:cNvPr id="15" name="Text 13"/>
          <p:cNvSpPr txBox="1"/>
          <p:nvPr/>
        </p:nvSpPr>
        <p:spPr>
          <a:xfrm>
            <a:off x="3520440" y="4023360"/>
            <a:ext cx="1371600" cy="301752"/>
          </a:xfrm>
          <a:prstGeom prst="rect">
            <a:avLst/>
          </a:prstGeom>
          <a:noFill/>
          <a:ln/>
        </p:spPr>
        <p:txBody>
          <a:bodyPr wrap="square" lIns="0" tIns="0" rIns="0" bIns="0" rtlCol="0" anchor="ctr"/>
          <a:lstStyle/>
          <a:p>
            <a:pPr algn="ctr" indent="0" marL="0">
              <a:buNone/>
            </a:pPr>
            <a:r>
              <a:rPr lang="en-US" sz="1000" b="1" dirty="0">
                <a:solidFill>
                  <a:srgbClr val="0E1A2B"/>
                </a:solidFill>
                <a:latin typeface="Calibri" pitchFamily="34" charset="0"/>
                <a:ea typeface="Calibri" pitchFamily="34" charset="-122"/>
                <a:cs typeface="Calibri" pitchFamily="34" charset="-120"/>
              </a:rPr>
              <a:t>IMPACT: MEDIUM</a:t>
            </a:r>
            <a:endParaRPr lang="en-US" sz="1000" dirty="0"/>
          </a:p>
        </p:txBody>
      </p:sp>
      <p:sp>
        <p:nvSpPr>
          <p:cNvPr id="16" name="Shape 14"/>
          <p:cNvSpPr/>
          <p:nvPr/>
        </p:nvSpPr>
        <p:spPr>
          <a:xfrm>
            <a:off x="6035040" y="1325880"/>
            <a:ext cx="2560320" cy="3200400"/>
          </a:xfrm>
          <a:prstGeom prst="roundRect">
            <a:avLst>
              <a:gd name="adj" fmla="val 3571"/>
            </a:avLst>
          </a:prstGeom>
          <a:solidFill>
            <a:srgbClr val="16283F"/>
          </a:solidFill>
          <a:ln w="12700">
            <a:solidFill>
              <a:srgbClr val="2B4463"/>
            </a:solidFill>
            <a:prstDash val="solid"/>
          </a:ln>
        </p:spPr>
      </p:sp>
      <p:sp>
        <p:nvSpPr>
          <p:cNvPr id="17" name="Text 15"/>
          <p:cNvSpPr txBox="1"/>
          <p:nvPr/>
        </p:nvSpPr>
        <p:spPr>
          <a:xfrm>
            <a:off x="6263640" y="1508760"/>
            <a:ext cx="1097280" cy="548640"/>
          </a:xfrm>
          <a:prstGeom prst="rect">
            <a:avLst/>
          </a:prstGeom>
          <a:noFill/>
          <a:ln/>
        </p:spPr>
        <p:txBody>
          <a:bodyPr wrap="square" lIns="0" tIns="0" rIns="0" bIns="0" rtlCol="0" anchor="ctr"/>
          <a:lstStyle/>
          <a:p>
            <a:pPr indent="0" marL="0">
              <a:buNone/>
            </a:pPr>
            <a:r>
              <a:rPr lang="en-US" sz="3600" b="1" dirty="0">
                <a:solidFill>
                  <a:srgbClr val="F4B942"/>
                </a:solidFill>
                <a:latin typeface="Cambria" pitchFamily="34" charset="0"/>
                <a:ea typeface="Cambria" pitchFamily="34" charset="-122"/>
                <a:cs typeface="Cambria" pitchFamily="34" charset="-120"/>
              </a:rPr>
              <a:t>03</a:t>
            </a:r>
            <a:endParaRPr lang="en-US" sz="3600" dirty="0"/>
          </a:p>
        </p:txBody>
      </p:sp>
      <p:sp>
        <p:nvSpPr>
          <p:cNvPr id="18" name="Text 16"/>
          <p:cNvSpPr txBox="1"/>
          <p:nvPr/>
        </p:nvSpPr>
        <p:spPr>
          <a:xfrm>
            <a:off x="6263640" y="2194560"/>
            <a:ext cx="2103120" cy="5943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Kasiski repetition accuracy</a:t>
            </a:r>
            <a:endParaRPr lang="en-US" sz="1600" dirty="0"/>
          </a:p>
        </p:txBody>
      </p:sp>
      <p:sp>
        <p:nvSpPr>
          <p:cNvPr id="19" name="Text 17"/>
          <p:cNvSpPr txBox="1"/>
          <p:nvPr/>
        </p:nvSpPr>
        <p:spPr>
          <a:xfrm>
            <a:off x="6263640" y="2834640"/>
            <a:ext cx="2103120" cy="1097280"/>
          </a:xfrm>
          <a:prstGeom prst="rect">
            <a:avLst/>
          </a:prstGeom>
          <a:noFill/>
          <a:ln/>
        </p:spPr>
        <p:txBody>
          <a:bodyPr wrap="square" lIns="0" tIns="0" rIns="0" bIns="0" rtlCol="0" anchor="t"/>
          <a:lstStyle/>
          <a:p>
            <a:pPr indent="0" marL="0">
              <a:buNone/>
            </a:pPr>
            <a:r>
              <a:rPr lang="en-US" sz="1200" dirty="0">
                <a:solidFill>
                  <a:srgbClr val="C9D6E3"/>
                </a:solidFill>
                <a:latin typeface="Calibri" pitchFamily="34" charset="0"/>
                <a:ea typeface="Calibri" pitchFamily="34" charset="-122"/>
                <a:cs typeface="Calibri" pitchFamily="34" charset="-120"/>
              </a:rPr>
              <a:t>Repeated substrings in Vigenère ciphertext reliably pointed to multiples of the keyword length.</a:t>
            </a:r>
            <a:endParaRPr lang="en-US" sz="1200" dirty="0"/>
          </a:p>
        </p:txBody>
      </p:sp>
      <p:sp>
        <p:nvSpPr>
          <p:cNvPr id="20" name="Shape 18"/>
          <p:cNvSpPr/>
          <p:nvPr/>
        </p:nvSpPr>
        <p:spPr>
          <a:xfrm>
            <a:off x="6263640" y="4023360"/>
            <a:ext cx="1371600" cy="301752"/>
          </a:xfrm>
          <a:prstGeom prst="roundRect">
            <a:avLst>
              <a:gd name="adj" fmla="val 48485"/>
            </a:avLst>
          </a:prstGeom>
          <a:solidFill>
            <a:srgbClr val="D1495B"/>
          </a:solidFill>
          <a:ln w="12700">
            <a:solidFill>
              <a:srgbClr val="D1495B"/>
            </a:solidFill>
            <a:prstDash val="solid"/>
          </a:ln>
        </p:spPr>
      </p:sp>
      <p:sp>
        <p:nvSpPr>
          <p:cNvPr id="21" name="Text 19"/>
          <p:cNvSpPr txBox="1"/>
          <p:nvPr/>
        </p:nvSpPr>
        <p:spPr>
          <a:xfrm>
            <a:off x="6263640" y="4023360"/>
            <a:ext cx="1371600" cy="3017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IMPACT: HIGH</a:t>
            </a:r>
            <a:endParaRPr lang="en-US" sz="1000" dirty="0"/>
          </a:p>
        </p:txBody>
      </p:sp>
      <p:sp>
        <p:nvSpPr>
          <p:cNvPr id="22" name="Text 20"/>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8FA3B8"/>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3" name="Text 21"/>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WHY STATISTICS WIN</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Analysis: Classical vs Modern</a:t>
            </a:r>
            <a:endParaRPr lang="en-US" sz="3000" dirty="0"/>
          </a:p>
        </p:txBody>
      </p:sp>
      <p:sp>
        <p:nvSpPr>
          <p:cNvPr id="4" name="Shape 2"/>
          <p:cNvSpPr/>
          <p:nvPr/>
        </p:nvSpPr>
        <p:spPr>
          <a:xfrm>
            <a:off x="548640" y="1280160"/>
            <a:ext cx="3657600" cy="2514600"/>
          </a:xfrm>
          <a:prstGeom prst="roundRect">
            <a:avLst>
              <a:gd name="adj" fmla="val 3636"/>
            </a:avLst>
          </a:prstGeom>
          <a:solidFill>
            <a:srgbClr val="F4F6F8"/>
          </a:solidFill>
          <a:ln w="9525">
            <a:solidFill>
              <a:srgbClr val="DCE3EA"/>
            </a:solidFill>
            <a:prstDash val="solid"/>
          </a:ln>
        </p:spPr>
      </p:sp>
      <p:sp>
        <p:nvSpPr>
          <p:cNvPr id="5" name="Shape 3"/>
          <p:cNvSpPr/>
          <p:nvPr/>
        </p:nvSpPr>
        <p:spPr>
          <a:xfrm>
            <a:off x="777240" y="1463040"/>
            <a:ext cx="457200" cy="457200"/>
          </a:xfrm>
          <a:prstGeom prst="ellipse">
            <a:avLst/>
          </a:prstGeom>
          <a:solidFill>
            <a:srgbClr val="D1495B"/>
          </a:solidFill>
          <a:ln w="12700">
            <a:solidFill>
              <a:srgbClr val="D1495B"/>
            </a:solidFill>
            <a:prstDash val="solid"/>
          </a:ln>
        </p:spPr>
      </p:sp>
      <p:pic>
        <p:nvPicPr>
          <p:cNvPr id="6" name="Image 0" descr="preencoded.png">    </p:cNvPr>
          <p:cNvPicPr>
            <a:picLocks noChangeAspect="1"/>
          </p:cNvPicPr>
          <p:nvPr/>
        </p:nvPicPr>
        <p:blipFill>
          <a:blip r:embed="rId1"/>
          <a:stretch>
            <a:fillRect/>
          </a:stretch>
        </p:blipFill>
        <p:spPr>
          <a:xfrm>
            <a:off x="891540" y="1577340"/>
            <a:ext cx="228600" cy="228600"/>
          </a:xfrm>
          <a:prstGeom prst="rect">
            <a:avLst/>
          </a:prstGeom>
        </p:spPr>
      </p:pic>
      <p:sp>
        <p:nvSpPr>
          <p:cNvPr id="7" name="Text 4"/>
          <p:cNvSpPr txBox="1"/>
          <p:nvPr/>
        </p:nvSpPr>
        <p:spPr>
          <a:xfrm>
            <a:off x="1371600" y="1463040"/>
            <a:ext cx="2743200" cy="45720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Caesar &amp; Vigenère</a:t>
            </a:r>
            <a:endParaRPr lang="en-US" sz="1800" dirty="0"/>
          </a:p>
        </p:txBody>
      </p:sp>
      <p:sp>
        <p:nvSpPr>
          <p:cNvPr id="8" name="Text 5"/>
          <p:cNvSpPr txBox="1"/>
          <p:nvPr/>
        </p:nvSpPr>
        <p:spPr>
          <a:xfrm>
            <a:off x="777240" y="2103120"/>
            <a:ext cx="320040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C2833"/>
                </a:solidFill>
                <a:latin typeface="Calibri" pitchFamily="34" charset="0"/>
                <a:ea typeface="Calibri" pitchFamily="34" charset="-122"/>
                <a:cs typeface="Calibri" pitchFamily="34" charset="-120"/>
              </a:rPr>
              <a:t>Substitution mapping is consistent (Caesar) or cyclically repeating (Vigenère)</a:t>
            </a:r>
            <a:endParaRPr lang="en-US" sz="1400" dirty="0"/>
          </a:p>
          <a:p>
            <a:pPr marL="342900" indent="-342900">
              <a:spcAft>
                <a:spcPts val="600"/>
              </a:spcAft>
              <a:buSzPct val="100000"/>
              <a:buChar char="•"/>
            </a:pPr>
            <a:r>
              <a:rPr lang="en-US" sz="1400" dirty="0">
                <a:solidFill>
                  <a:srgbClr val="1C2833"/>
                </a:solidFill>
                <a:latin typeface="Calibri" pitchFamily="34" charset="0"/>
                <a:ea typeface="Calibri" pitchFamily="34" charset="-122"/>
                <a:cs typeface="Calibri" pitchFamily="34" charset="-120"/>
              </a:rPr>
              <a:t>Statistical signatures survive encryption</a:t>
            </a:r>
            <a:endParaRPr lang="en-US" sz="1400" dirty="0"/>
          </a:p>
          <a:p>
            <a:pPr marL="342900" indent="-342900">
              <a:spcAft>
                <a:spcPts val="600"/>
              </a:spcAft>
              <a:buSzPct val="100000"/>
              <a:buChar char="•"/>
            </a:pPr>
            <a:r>
              <a:rPr lang="en-US" sz="1400" dirty="0">
                <a:solidFill>
                  <a:srgbClr val="1C2833"/>
                </a:solidFill>
                <a:latin typeface="Calibri" pitchFamily="34" charset="0"/>
                <a:ea typeface="Calibri" pitchFamily="34" charset="-122"/>
                <a:cs typeface="Calibri" pitchFamily="34" charset="-120"/>
              </a:rPr>
              <a:t>Frequency analysis recovers key and text</a:t>
            </a:r>
            <a:endParaRPr lang="en-US" sz="1400" dirty="0"/>
          </a:p>
        </p:txBody>
      </p:sp>
      <p:sp>
        <p:nvSpPr>
          <p:cNvPr id="9" name="Shape 6"/>
          <p:cNvSpPr/>
          <p:nvPr/>
        </p:nvSpPr>
        <p:spPr>
          <a:xfrm>
            <a:off x="4937760" y="1280160"/>
            <a:ext cx="3657600" cy="2514600"/>
          </a:xfrm>
          <a:prstGeom prst="roundRect">
            <a:avLst>
              <a:gd name="adj" fmla="val 3636"/>
            </a:avLst>
          </a:prstGeom>
          <a:solidFill>
            <a:srgbClr val="0E1A2B"/>
          </a:solidFill>
          <a:ln w="12700">
            <a:solidFill>
              <a:srgbClr val="0E1A2B"/>
            </a:solidFill>
            <a:prstDash val="solid"/>
          </a:ln>
        </p:spPr>
      </p:sp>
      <p:sp>
        <p:nvSpPr>
          <p:cNvPr id="10" name="Shape 7"/>
          <p:cNvSpPr/>
          <p:nvPr/>
        </p:nvSpPr>
        <p:spPr>
          <a:xfrm>
            <a:off x="5166360" y="1463040"/>
            <a:ext cx="457200" cy="457200"/>
          </a:xfrm>
          <a:prstGeom prst="ellipse">
            <a:avLst/>
          </a:prstGeom>
          <a:solidFill>
            <a:srgbClr val="2A9D8F"/>
          </a:solidFill>
          <a:ln w="12700">
            <a:solidFill>
              <a:srgbClr val="2A9D8F"/>
            </a:solidFill>
            <a:prstDash val="solid"/>
          </a:ln>
        </p:spPr>
      </p:sp>
      <p:pic>
        <p:nvPicPr>
          <p:cNvPr id="11" name="Image 1" descr="preencoded.png">    </p:cNvPr>
          <p:cNvPicPr>
            <a:picLocks noChangeAspect="1"/>
          </p:cNvPicPr>
          <p:nvPr/>
        </p:nvPicPr>
        <p:blipFill>
          <a:blip r:embed="rId2"/>
          <a:stretch>
            <a:fillRect/>
          </a:stretch>
        </p:blipFill>
        <p:spPr>
          <a:xfrm>
            <a:off x="5280660" y="1577340"/>
            <a:ext cx="228600" cy="228600"/>
          </a:xfrm>
          <a:prstGeom prst="rect">
            <a:avLst/>
          </a:prstGeom>
        </p:spPr>
      </p:pic>
      <p:sp>
        <p:nvSpPr>
          <p:cNvPr id="12" name="Text 8"/>
          <p:cNvSpPr txBox="1"/>
          <p:nvPr/>
        </p:nvSpPr>
        <p:spPr>
          <a:xfrm>
            <a:off x="5760720" y="1463040"/>
            <a:ext cx="27432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Modern ciphers (AES)</a:t>
            </a:r>
            <a:endParaRPr lang="en-US" sz="1800" dirty="0"/>
          </a:p>
        </p:txBody>
      </p:sp>
      <p:sp>
        <p:nvSpPr>
          <p:cNvPr id="13" name="Text 9"/>
          <p:cNvSpPr txBox="1"/>
          <p:nvPr/>
        </p:nvSpPr>
        <p:spPr>
          <a:xfrm>
            <a:off x="5166360" y="2103120"/>
            <a:ext cx="320040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CE6F0"/>
                </a:solidFill>
                <a:latin typeface="Calibri" pitchFamily="34" charset="0"/>
                <a:ea typeface="Calibri" pitchFamily="34" charset="-122"/>
                <a:cs typeface="Calibri" pitchFamily="34" charset="-120"/>
              </a:rPr>
              <a:t>Confusion and diffusion layers</a:t>
            </a:r>
            <a:endParaRPr lang="en-US" sz="1400" dirty="0"/>
          </a:p>
          <a:p>
            <a:pPr marL="342900" indent="-342900">
              <a:spcAft>
                <a:spcPts val="600"/>
              </a:spcAft>
              <a:buSzPct val="100000"/>
              <a:buChar char="•"/>
            </a:pPr>
            <a:r>
              <a:rPr lang="en-US" sz="1400" dirty="0">
                <a:solidFill>
                  <a:srgbClr val="DCE6F0"/>
                </a:solidFill>
                <a:latin typeface="Calibri" pitchFamily="34" charset="0"/>
                <a:ea typeface="Calibri" pitchFamily="34" charset="-122"/>
                <a:cs typeface="Calibri" pitchFamily="34" charset="-120"/>
              </a:rPr>
              <a:t>Letter-frequency distributions are completely flattened</a:t>
            </a:r>
            <a:endParaRPr lang="en-US" sz="1400" dirty="0"/>
          </a:p>
          <a:p>
            <a:pPr marL="342900" indent="-342900">
              <a:spcAft>
                <a:spcPts val="600"/>
              </a:spcAft>
              <a:buSzPct val="100000"/>
              <a:buChar char="•"/>
            </a:pPr>
            <a:r>
              <a:rPr lang="en-US" sz="1400" dirty="0">
                <a:solidFill>
                  <a:srgbClr val="DCE6F0"/>
                </a:solidFill>
                <a:latin typeface="Calibri" pitchFamily="34" charset="0"/>
                <a:ea typeface="Calibri" pitchFamily="34" charset="-122"/>
                <a:cs typeface="Calibri" pitchFamily="34" charset="-120"/>
              </a:rPr>
              <a:t>No structural pattern left to analyze</a:t>
            </a:r>
            <a:endParaRPr lang="en-US" sz="1400" dirty="0"/>
          </a:p>
        </p:txBody>
      </p:sp>
      <p:sp>
        <p:nvSpPr>
          <p:cNvPr id="14" name="Text 10"/>
          <p:cNvSpPr txBox="1"/>
          <p:nvPr/>
        </p:nvSpPr>
        <p:spPr>
          <a:xfrm>
            <a:off x="548640" y="4023360"/>
            <a:ext cx="8046720" cy="457200"/>
          </a:xfrm>
          <a:prstGeom prst="rect">
            <a:avLst/>
          </a:prstGeom>
          <a:noFill/>
          <a:ln/>
        </p:spPr>
        <p:txBody>
          <a:bodyPr wrap="square" lIns="0" tIns="0" rIns="0" bIns="0" rtlCol="0" anchor="ctr"/>
          <a:lstStyle/>
          <a:p>
            <a:pPr algn="ctr" indent="0" marL="0">
              <a:buNone/>
            </a:pPr>
            <a:r>
              <a:rPr lang="en-US" sz="1600" i="1" dirty="0">
                <a:solidFill>
                  <a:srgbClr val="2A9D8F"/>
                </a:solidFill>
                <a:latin typeface="Cambria" pitchFamily="34" charset="0"/>
                <a:ea typeface="Cambria" pitchFamily="34" charset="-122"/>
                <a:cs typeface="Cambria" pitchFamily="34" charset="-120"/>
              </a:rPr>
              <a:t>Classical ciphers are inherently weak against frequency analysis.</a:t>
            </a:r>
            <a:endParaRPr lang="en-US" sz="1600" dirty="0"/>
          </a:p>
        </p:txBody>
      </p:sp>
      <p:sp>
        <p:nvSpPr>
          <p:cNvPr id="15" name="Text 1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16" name="Text 12"/>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2A9D8F"/>
                </a:solidFill>
                <a:latin typeface="Calibri" pitchFamily="34" charset="0"/>
                <a:ea typeface="Calibri" pitchFamily="34" charset="-122"/>
                <a:cs typeface="Calibri" pitchFamily="34" charset="-120"/>
              </a:rPr>
              <a:t>PROBLEMS &amp; SOLUTIONS</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Challenges Faced</a:t>
            </a:r>
            <a:endParaRPr lang="en-US" sz="3000" dirty="0"/>
          </a:p>
        </p:txBody>
      </p:sp>
      <p:sp>
        <p:nvSpPr>
          <p:cNvPr id="4" name="Shape 2"/>
          <p:cNvSpPr/>
          <p:nvPr/>
        </p:nvSpPr>
        <p:spPr>
          <a:xfrm>
            <a:off x="548640" y="1280160"/>
            <a:ext cx="3657600" cy="1554480"/>
          </a:xfrm>
          <a:prstGeom prst="roundRect">
            <a:avLst>
              <a:gd name="adj" fmla="val 5882"/>
            </a:avLst>
          </a:prstGeom>
          <a:solidFill>
            <a:srgbClr val="F4F6F8"/>
          </a:solidFill>
          <a:ln w="9525">
            <a:solidFill>
              <a:srgbClr val="DCE3EA"/>
            </a:solidFill>
            <a:prstDash val="solid"/>
          </a:ln>
        </p:spPr>
      </p:sp>
      <p:sp>
        <p:nvSpPr>
          <p:cNvPr id="5" name="Text 3"/>
          <p:cNvSpPr txBox="1"/>
          <p:nvPr/>
        </p:nvSpPr>
        <p:spPr>
          <a:xfrm>
            <a:off x="777240" y="1417320"/>
            <a:ext cx="3200400" cy="182880"/>
          </a:xfrm>
          <a:prstGeom prst="rect">
            <a:avLst/>
          </a:prstGeom>
          <a:noFill/>
          <a:ln/>
        </p:spPr>
        <p:txBody>
          <a:bodyPr wrap="square" lIns="0" tIns="0" rIns="0" bIns="0" rtlCol="0" anchor="ctr"/>
          <a:lstStyle/>
          <a:p>
            <a:pPr indent="0" marL="0">
              <a:buNone/>
            </a:pPr>
            <a:r>
              <a:rPr lang="en-US" sz="900" b="1" spc="200" kern="0" dirty="0">
                <a:solidFill>
                  <a:srgbClr val="D1495B"/>
                </a:solidFill>
                <a:latin typeface="Calibri" pitchFamily="34" charset="0"/>
                <a:ea typeface="Calibri" pitchFamily="34" charset="-122"/>
                <a:cs typeface="Calibri" pitchFamily="34" charset="-120"/>
              </a:rPr>
              <a:t>CHALLENGE</a:t>
            </a:r>
            <a:endParaRPr lang="en-US" sz="900" dirty="0"/>
          </a:p>
        </p:txBody>
      </p:sp>
      <p:sp>
        <p:nvSpPr>
          <p:cNvPr id="6" name="Text 4"/>
          <p:cNvSpPr txBox="1"/>
          <p:nvPr/>
        </p:nvSpPr>
        <p:spPr>
          <a:xfrm>
            <a:off x="777240" y="1627632"/>
            <a:ext cx="3200400" cy="27432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Handling short text blocks</a:t>
            </a:r>
            <a:endParaRPr lang="en-US" sz="1500" dirty="0"/>
          </a:p>
        </p:txBody>
      </p:sp>
      <p:sp>
        <p:nvSpPr>
          <p:cNvPr id="7" name="Text 5"/>
          <p:cNvSpPr txBox="1"/>
          <p:nvPr/>
        </p:nvSpPr>
        <p:spPr>
          <a:xfrm>
            <a:off x="777240" y="1938528"/>
            <a:ext cx="3200400" cy="82296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Automated cryptanalysis failed on very short strings because statistical averages need a larger sample.</a:t>
            </a:r>
            <a:endParaRPr lang="en-US" sz="1200" dirty="0"/>
          </a:p>
        </p:txBody>
      </p:sp>
      <p:pic>
        <p:nvPicPr>
          <p:cNvPr id="8" name="Image 0" descr="preencoded.png">    </p:cNvPr>
          <p:cNvPicPr>
            <a:picLocks noChangeAspect="1"/>
          </p:cNvPicPr>
          <p:nvPr/>
        </p:nvPicPr>
        <p:blipFill>
          <a:blip r:embed="rId1"/>
          <a:stretch>
            <a:fillRect/>
          </a:stretch>
        </p:blipFill>
        <p:spPr>
          <a:xfrm>
            <a:off x="4343400" y="1892808"/>
            <a:ext cx="320040" cy="320040"/>
          </a:xfrm>
          <a:prstGeom prst="rect">
            <a:avLst/>
          </a:prstGeom>
        </p:spPr>
      </p:pic>
      <p:sp>
        <p:nvSpPr>
          <p:cNvPr id="9" name="Shape 6"/>
          <p:cNvSpPr/>
          <p:nvPr/>
        </p:nvSpPr>
        <p:spPr>
          <a:xfrm>
            <a:off x="4800600" y="1280160"/>
            <a:ext cx="3794760" cy="1554480"/>
          </a:xfrm>
          <a:prstGeom prst="roundRect">
            <a:avLst>
              <a:gd name="adj" fmla="val 5882"/>
            </a:avLst>
          </a:prstGeom>
          <a:solidFill>
            <a:srgbClr val="0E1A2B"/>
          </a:solidFill>
          <a:ln w="12700">
            <a:solidFill>
              <a:srgbClr val="0E1A2B"/>
            </a:solidFill>
            <a:prstDash val="solid"/>
          </a:ln>
        </p:spPr>
      </p:sp>
      <p:sp>
        <p:nvSpPr>
          <p:cNvPr id="10" name="Text 7"/>
          <p:cNvSpPr txBox="1"/>
          <p:nvPr/>
        </p:nvSpPr>
        <p:spPr>
          <a:xfrm>
            <a:off x="5029200" y="1417320"/>
            <a:ext cx="3291840" cy="182880"/>
          </a:xfrm>
          <a:prstGeom prst="rect">
            <a:avLst/>
          </a:prstGeom>
          <a:noFill/>
          <a:ln/>
        </p:spPr>
        <p:txBody>
          <a:bodyPr wrap="square" lIns="0" tIns="0" rIns="0" bIns="0" rtlCol="0" anchor="ctr"/>
          <a:lstStyle/>
          <a:p>
            <a:pPr indent="0" marL="0">
              <a:buNone/>
            </a:pPr>
            <a:r>
              <a:rPr lang="en-US" sz="900" b="1" spc="200" kern="0" dirty="0">
                <a:solidFill>
                  <a:srgbClr val="F4B942"/>
                </a:solidFill>
                <a:latin typeface="Calibri" pitchFamily="34" charset="0"/>
                <a:ea typeface="Calibri" pitchFamily="34" charset="-122"/>
                <a:cs typeface="Calibri" pitchFamily="34" charset="-120"/>
              </a:rPr>
              <a:t>HOW I SOLVED IT</a:t>
            </a:r>
            <a:endParaRPr lang="en-US" sz="900" dirty="0"/>
          </a:p>
        </p:txBody>
      </p:sp>
      <p:sp>
        <p:nvSpPr>
          <p:cNvPr id="11" name="Text 8"/>
          <p:cNvSpPr txBox="1"/>
          <p:nvPr/>
        </p:nvSpPr>
        <p:spPr>
          <a:xfrm>
            <a:off x="5029200" y="1691640"/>
            <a:ext cx="3337560" cy="10515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Added conditional checks that prompt users for a longer ciphertext during automated Vigenère cracking.</a:t>
            </a:r>
            <a:endParaRPr lang="en-US" sz="1400" dirty="0"/>
          </a:p>
        </p:txBody>
      </p:sp>
      <p:sp>
        <p:nvSpPr>
          <p:cNvPr id="12" name="Shape 9"/>
          <p:cNvSpPr/>
          <p:nvPr/>
        </p:nvSpPr>
        <p:spPr>
          <a:xfrm>
            <a:off x="548640" y="3017520"/>
            <a:ext cx="3657600" cy="1554480"/>
          </a:xfrm>
          <a:prstGeom prst="roundRect">
            <a:avLst>
              <a:gd name="adj" fmla="val 5882"/>
            </a:avLst>
          </a:prstGeom>
          <a:solidFill>
            <a:srgbClr val="F4F6F8"/>
          </a:solidFill>
          <a:ln w="9525">
            <a:solidFill>
              <a:srgbClr val="DCE3EA"/>
            </a:solidFill>
            <a:prstDash val="solid"/>
          </a:ln>
        </p:spPr>
      </p:sp>
      <p:sp>
        <p:nvSpPr>
          <p:cNvPr id="13" name="Text 10"/>
          <p:cNvSpPr txBox="1"/>
          <p:nvPr/>
        </p:nvSpPr>
        <p:spPr>
          <a:xfrm>
            <a:off x="777240" y="3154680"/>
            <a:ext cx="3200400" cy="182880"/>
          </a:xfrm>
          <a:prstGeom prst="rect">
            <a:avLst/>
          </a:prstGeom>
          <a:noFill/>
          <a:ln/>
        </p:spPr>
        <p:txBody>
          <a:bodyPr wrap="square" lIns="0" tIns="0" rIns="0" bIns="0" rtlCol="0" anchor="ctr"/>
          <a:lstStyle/>
          <a:p>
            <a:pPr indent="0" marL="0">
              <a:buNone/>
            </a:pPr>
            <a:r>
              <a:rPr lang="en-US" sz="900" b="1" spc="200" kern="0" dirty="0">
                <a:solidFill>
                  <a:srgbClr val="D1495B"/>
                </a:solidFill>
                <a:latin typeface="Calibri" pitchFamily="34" charset="0"/>
                <a:ea typeface="Calibri" pitchFamily="34" charset="-122"/>
                <a:cs typeface="Calibri" pitchFamily="34" charset="-120"/>
              </a:rPr>
              <a:t>CHALLENGE</a:t>
            </a:r>
            <a:endParaRPr lang="en-US" sz="900" dirty="0"/>
          </a:p>
        </p:txBody>
      </p:sp>
      <p:sp>
        <p:nvSpPr>
          <p:cNvPr id="14" name="Text 11"/>
          <p:cNvSpPr txBox="1"/>
          <p:nvPr/>
        </p:nvSpPr>
        <p:spPr>
          <a:xfrm>
            <a:off x="777240" y="3364992"/>
            <a:ext cx="3200400" cy="274320"/>
          </a:xfrm>
          <a:prstGeom prst="rect">
            <a:avLst/>
          </a:prstGeom>
          <a:noFill/>
          <a:ln/>
        </p:spPr>
        <p:txBody>
          <a:bodyPr wrap="square" lIns="0" tIns="0" rIns="0" bIns="0" rtlCol="0" anchor="ctr"/>
          <a:lstStyle/>
          <a:p>
            <a:pPr indent="0" marL="0">
              <a:buNone/>
            </a:pPr>
            <a:r>
              <a:rPr lang="en-US" sz="1500" b="1" dirty="0">
                <a:solidFill>
                  <a:srgbClr val="0E1A2B"/>
                </a:solidFill>
                <a:latin typeface="Cambria" pitchFamily="34" charset="0"/>
                <a:ea typeface="Cambria" pitchFamily="34" charset="-122"/>
                <a:cs typeface="Cambria" pitchFamily="34" charset="-120"/>
              </a:rPr>
              <a:t>GUI module integration</a:t>
            </a:r>
            <a:endParaRPr lang="en-US" sz="1500" dirty="0"/>
          </a:p>
        </p:txBody>
      </p:sp>
      <p:sp>
        <p:nvSpPr>
          <p:cNvPr id="15" name="Text 12"/>
          <p:cNvSpPr txBox="1"/>
          <p:nvPr/>
        </p:nvSpPr>
        <p:spPr>
          <a:xfrm>
            <a:off x="777240" y="3675888"/>
            <a:ext cx="3200400" cy="82296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Keeping clean imports between the Tkinter GUI file and the backend CLI script.</a:t>
            </a:r>
            <a:endParaRPr lang="en-US" sz="1200" dirty="0"/>
          </a:p>
        </p:txBody>
      </p:sp>
      <p:pic>
        <p:nvPicPr>
          <p:cNvPr id="16" name="Image 1" descr="preencoded.png">    </p:cNvPr>
          <p:cNvPicPr>
            <a:picLocks noChangeAspect="1"/>
          </p:cNvPicPr>
          <p:nvPr/>
        </p:nvPicPr>
        <p:blipFill>
          <a:blip r:embed="rId2"/>
          <a:stretch>
            <a:fillRect/>
          </a:stretch>
        </p:blipFill>
        <p:spPr>
          <a:xfrm>
            <a:off x="4343400" y="3630168"/>
            <a:ext cx="320040" cy="320040"/>
          </a:xfrm>
          <a:prstGeom prst="rect">
            <a:avLst/>
          </a:prstGeom>
        </p:spPr>
      </p:pic>
      <p:sp>
        <p:nvSpPr>
          <p:cNvPr id="17" name="Shape 13"/>
          <p:cNvSpPr/>
          <p:nvPr/>
        </p:nvSpPr>
        <p:spPr>
          <a:xfrm>
            <a:off x="4800600" y="3017520"/>
            <a:ext cx="3794760" cy="1554480"/>
          </a:xfrm>
          <a:prstGeom prst="roundRect">
            <a:avLst>
              <a:gd name="adj" fmla="val 5882"/>
            </a:avLst>
          </a:prstGeom>
          <a:solidFill>
            <a:srgbClr val="0E1A2B"/>
          </a:solidFill>
          <a:ln w="12700">
            <a:solidFill>
              <a:srgbClr val="0E1A2B"/>
            </a:solidFill>
            <a:prstDash val="solid"/>
          </a:ln>
        </p:spPr>
      </p:sp>
      <p:sp>
        <p:nvSpPr>
          <p:cNvPr id="18" name="Text 14"/>
          <p:cNvSpPr txBox="1"/>
          <p:nvPr/>
        </p:nvSpPr>
        <p:spPr>
          <a:xfrm>
            <a:off x="5029200" y="3154680"/>
            <a:ext cx="3291840" cy="182880"/>
          </a:xfrm>
          <a:prstGeom prst="rect">
            <a:avLst/>
          </a:prstGeom>
          <a:noFill/>
          <a:ln/>
        </p:spPr>
        <p:txBody>
          <a:bodyPr wrap="square" lIns="0" tIns="0" rIns="0" bIns="0" rtlCol="0" anchor="ctr"/>
          <a:lstStyle/>
          <a:p>
            <a:pPr indent="0" marL="0">
              <a:buNone/>
            </a:pPr>
            <a:r>
              <a:rPr lang="en-US" sz="900" b="1" spc="200" kern="0" dirty="0">
                <a:solidFill>
                  <a:srgbClr val="F4B942"/>
                </a:solidFill>
                <a:latin typeface="Calibri" pitchFamily="34" charset="0"/>
                <a:ea typeface="Calibri" pitchFamily="34" charset="-122"/>
                <a:cs typeface="Calibri" pitchFamily="34" charset="-120"/>
              </a:rPr>
              <a:t>HOW I SOLVED IT</a:t>
            </a:r>
            <a:endParaRPr lang="en-US" sz="900" dirty="0"/>
          </a:p>
        </p:txBody>
      </p:sp>
      <p:sp>
        <p:nvSpPr>
          <p:cNvPr id="19" name="Text 15"/>
          <p:cNvSpPr txBox="1"/>
          <p:nvPr/>
        </p:nvSpPr>
        <p:spPr>
          <a:xfrm>
            <a:off x="5029200" y="3429000"/>
            <a:ext cx="3337560" cy="10515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Kept both files in the same working directory and made the GUI strictly a presentation layer.</a:t>
            </a:r>
            <a:endParaRPr lang="en-US" sz="1400" dirty="0"/>
          </a:p>
        </p:txBody>
      </p:sp>
      <p:sp>
        <p:nvSpPr>
          <p:cNvPr id="20" name="Text 16"/>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5B6B7B"/>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1" name="Text 17"/>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0E1A2B"/>
          </a:solidFill>
          <a:ln w="12700">
            <a:solidFill>
              <a:srgbClr val="0E1A2B"/>
            </a:solidFill>
            <a:prstDash val="solid"/>
          </a:ln>
        </p:spPr>
      </p:sp>
      <p:sp>
        <p:nvSpPr>
          <p:cNvPr id="3" name="Text 1"/>
          <p:cNvSpPr txBox="1"/>
          <p:nvPr/>
        </p:nvSpPr>
        <p:spPr>
          <a:xfrm>
            <a:off x="548640" y="1554480"/>
            <a:ext cx="2377440" cy="27432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LEARNING</a:t>
            </a:r>
            <a:endParaRPr lang="en-US" sz="1100" dirty="0"/>
          </a:p>
        </p:txBody>
      </p:sp>
      <p:sp>
        <p:nvSpPr>
          <p:cNvPr id="4" name="Text 2"/>
          <p:cNvSpPr txBox="1"/>
          <p:nvPr/>
        </p:nvSpPr>
        <p:spPr>
          <a:xfrm>
            <a:off x="548640" y="1874520"/>
            <a:ext cx="237744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I Took Away</a:t>
            </a:r>
            <a:endParaRPr lang="en-US" sz="3200" dirty="0"/>
          </a:p>
        </p:txBody>
      </p:sp>
      <p:sp>
        <p:nvSpPr>
          <p:cNvPr id="5" name="Shape 3"/>
          <p:cNvSpPr/>
          <p:nvPr/>
        </p:nvSpPr>
        <p:spPr>
          <a:xfrm>
            <a:off x="548640" y="3291840"/>
            <a:ext cx="640080" cy="640080"/>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708660" y="3451860"/>
            <a:ext cx="320040" cy="320040"/>
          </a:xfrm>
          <a:prstGeom prst="rect">
            <a:avLst/>
          </a:prstGeom>
        </p:spPr>
      </p:pic>
      <p:sp>
        <p:nvSpPr>
          <p:cNvPr id="7" name="Text 4"/>
          <p:cNvSpPr txBox="1"/>
          <p:nvPr/>
        </p:nvSpPr>
        <p:spPr>
          <a:xfrm>
            <a:off x="3749040" y="685800"/>
            <a:ext cx="731520" cy="640080"/>
          </a:xfrm>
          <a:prstGeom prst="rect">
            <a:avLst/>
          </a:prstGeom>
          <a:noFill/>
          <a:ln/>
        </p:spPr>
        <p:txBody>
          <a:bodyPr wrap="square" lIns="0" tIns="0" rIns="0" bIns="0" rtlCol="0" anchor="t"/>
          <a:lstStyle/>
          <a:p>
            <a:pPr indent="0" marL="0">
              <a:buNone/>
            </a:pPr>
            <a:r>
              <a:rPr lang="en-US" sz="3000" b="1" dirty="0">
                <a:solidFill>
                  <a:srgbClr val="2A9D8F"/>
                </a:solidFill>
                <a:latin typeface="Cambria" pitchFamily="34" charset="0"/>
                <a:ea typeface="Cambria" pitchFamily="34" charset="-122"/>
                <a:cs typeface="Cambria" pitchFamily="34" charset="-120"/>
              </a:rPr>
              <a:t>01</a:t>
            </a:r>
            <a:endParaRPr lang="en-US" sz="3000" dirty="0"/>
          </a:p>
        </p:txBody>
      </p:sp>
      <p:sp>
        <p:nvSpPr>
          <p:cNvPr id="8" name="Text 5"/>
          <p:cNvSpPr txBox="1"/>
          <p:nvPr/>
        </p:nvSpPr>
        <p:spPr>
          <a:xfrm>
            <a:off x="4572000" y="685800"/>
            <a:ext cx="4023360" cy="27432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Chi-squared in practice</a:t>
            </a:r>
            <a:endParaRPr lang="en-US" sz="1600" dirty="0"/>
          </a:p>
        </p:txBody>
      </p:sp>
      <p:sp>
        <p:nvSpPr>
          <p:cNvPr id="9" name="Text 6"/>
          <p:cNvSpPr txBox="1"/>
          <p:nvPr/>
        </p:nvSpPr>
        <p:spPr>
          <a:xfrm>
            <a:off x="4572000" y="996696"/>
            <a:ext cx="4023360" cy="54864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Applying chi-squared statistics to match text letter frequencies against standard English.</a:t>
            </a:r>
            <a:endParaRPr lang="en-US" sz="1200" dirty="0"/>
          </a:p>
        </p:txBody>
      </p:sp>
      <p:sp>
        <p:nvSpPr>
          <p:cNvPr id="10" name="Text 7"/>
          <p:cNvSpPr txBox="1"/>
          <p:nvPr/>
        </p:nvSpPr>
        <p:spPr>
          <a:xfrm>
            <a:off x="3749040" y="1709928"/>
            <a:ext cx="731520" cy="640080"/>
          </a:xfrm>
          <a:prstGeom prst="rect">
            <a:avLst/>
          </a:prstGeom>
          <a:noFill/>
          <a:ln/>
        </p:spPr>
        <p:txBody>
          <a:bodyPr wrap="square" lIns="0" tIns="0" rIns="0" bIns="0" rtlCol="0" anchor="t"/>
          <a:lstStyle/>
          <a:p>
            <a:pPr indent="0" marL="0">
              <a:buNone/>
            </a:pPr>
            <a:r>
              <a:rPr lang="en-US" sz="3000" b="1" dirty="0">
                <a:solidFill>
                  <a:srgbClr val="2A9D8F"/>
                </a:solidFill>
                <a:latin typeface="Cambria" pitchFamily="34" charset="0"/>
                <a:ea typeface="Cambria" pitchFamily="34" charset="-122"/>
                <a:cs typeface="Cambria" pitchFamily="34" charset="-120"/>
              </a:rPr>
              <a:t>02</a:t>
            </a:r>
            <a:endParaRPr lang="en-US" sz="3000" dirty="0"/>
          </a:p>
        </p:txBody>
      </p:sp>
      <p:sp>
        <p:nvSpPr>
          <p:cNvPr id="11" name="Text 8"/>
          <p:cNvSpPr txBox="1"/>
          <p:nvPr/>
        </p:nvSpPr>
        <p:spPr>
          <a:xfrm>
            <a:off x="4572000" y="1709928"/>
            <a:ext cx="4023360" cy="27432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Key-length detection</a:t>
            </a:r>
            <a:endParaRPr lang="en-US" sz="1600" dirty="0"/>
          </a:p>
        </p:txBody>
      </p:sp>
      <p:sp>
        <p:nvSpPr>
          <p:cNvPr id="12" name="Text 9"/>
          <p:cNvSpPr txBox="1"/>
          <p:nvPr/>
        </p:nvSpPr>
        <p:spPr>
          <a:xfrm>
            <a:off x="4572000" y="2020824"/>
            <a:ext cx="4023360" cy="54864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Practical grasp of Kasiski examination and Index of Coincidence for polyalphabetic ciphers.</a:t>
            </a:r>
            <a:endParaRPr lang="en-US" sz="1200" dirty="0"/>
          </a:p>
        </p:txBody>
      </p:sp>
      <p:sp>
        <p:nvSpPr>
          <p:cNvPr id="13" name="Text 10"/>
          <p:cNvSpPr txBox="1"/>
          <p:nvPr/>
        </p:nvSpPr>
        <p:spPr>
          <a:xfrm>
            <a:off x="3749040" y="2734056"/>
            <a:ext cx="731520" cy="640080"/>
          </a:xfrm>
          <a:prstGeom prst="rect">
            <a:avLst/>
          </a:prstGeom>
          <a:noFill/>
          <a:ln/>
        </p:spPr>
        <p:txBody>
          <a:bodyPr wrap="square" lIns="0" tIns="0" rIns="0" bIns="0" rtlCol="0" anchor="t"/>
          <a:lstStyle/>
          <a:p>
            <a:pPr indent="0" marL="0">
              <a:buNone/>
            </a:pPr>
            <a:r>
              <a:rPr lang="en-US" sz="3000" b="1" dirty="0">
                <a:solidFill>
                  <a:srgbClr val="2A9D8F"/>
                </a:solidFill>
                <a:latin typeface="Cambria" pitchFamily="34" charset="0"/>
                <a:ea typeface="Cambria" pitchFamily="34" charset="-122"/>
                <a:cs typeface="Cambria" pitchFamily="34" charset="-120"/>
              </a:rPr>
              <a:t>03</a:t>
            </a:r>
            <a:endParaRPr lang="en-US" sz="3000" dirty="0"/>
          </a:p>
        </p:txBody>
      </p:sp>
      <p:sp>
        <p:nvSpPr>
          <p:cNvPr id="14" name="Text 11"/>
          <p:cNvSpPr txBox="1"/>
          <p:nvPr/>
        </p:nvSpPr>
        <p:spPr>
          <a:xfrm>
            <a:off x="4572000" y="2734056"/>
            <a:ext cx="4023360" cy="27432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Clean architecture</a:t>
            </a:r>
            <a:endParaRPr lang="en-US" sz="1600" dirty="0"/>
          </a:p>
        </p:txBody>
      </p:sp>
      <p:sp>
        <p:nvSpPr>
          <p:cNvPr id="15" name="Text 12"/>
          <p:cNvSpPr txBox="1"/>
          <p:nvPr/>
        </p:nvSpPr>
        <p:spPr>
          <a:xfrm>
            <a:off x="4572000" y="3044952"/>
            <a:ext cx="4023360" cy="54864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Separating core security logic from the graphical presentation layer in Python.</a:t>
            </a:r>
            <a:endParaRPr lang="en-US" sz="1200" dirty="0"/>
          </a:p>
        </p:txBody>
      </p:sp>
      <p:sp>
        <p:nvSpPr>
          <p:cNvPr id="16" name="Text 13"/>
          <p:cNvSpPr txBox="1"/>
          <p:nvPr/>
        </p:nvSpPr>
        <p:spPr>
          <a:xfrm>
            <a:off x="3749040" y="3758184"/>
            <a:ext cx="731520" cy="640080"/>
          </a:xfrm>
          <a:prstGeom prst="rect">
            <a:avLst/>
          </a:prstGeom>
          <a:noFill/>
          <a:ln/>
        </p:spPr>
        <p:txBody>
          <a:bodyPr wrap="square" lIns="0" tIns="0" rIns="0" bIns="0" rtlCol="0" anchor="t"/>
          <a:lstStyle/>
          <a:p>
            <a:pPr indent="0" marL="0">
              <a:buNone/>
            </a:pPr>
            <a:r>
              <a:rPr lang="en-US" sz="3000" b="1" dirty="0">
                <a:solidFill>
                  <a:srgbClr val="2A9D8F"/>
                </a:solidFill>
                <a:latin typeface="Cambria" pitchFamily="34" charset="0"/>
                <a:ea typeface="Cambria" pitchFamily="34" charset="-122"/>
                <a:cs typeface="Cambria" pitchFamily="34" charset="-120"/>
              </a:rPr>
              <a:t>04</a:t>
            </a:r>
            <a:endParaRPr lang="en-US" sz="3000" dirty="0"/>
          </a:p>
        </p:txBody>
      </p:sp>
      <p:sp>
        <p:nvSpPr>
          <p:cNvPr id="17" name="Text 14"/>
          <p:cNvSpPr txBox="1"/>
          <p:nvPr/>
        </p:nvSpPr>
        <p:spPr>
          <a:xfrm>
            <a:off x="4572000" y="3758184"/>
            <a:ext cx="4023360" cy="274320"/>
          </a:xfrm>
          <a:prstGeom prst="rect">
            <a:avLst/>
          </a:prstGeom>
          <a:noFill/>
          <a:ln/>
        </p:spPr>
        <p:txBody>
          <a:bodyPr wrap="square" lIns="0" tIns="0" rIns="0" bIns="0" rtlCol="0" anchor="ctr"/>
          <a:lstStyle/>
          <a:p>
            <a:pPr indent="0" marL="0">
              <a:buNone/>
            </a:pPr>
            <a:r>
              <a:rPr lang="en-US" sz="1600" b="1" dirty="0">
                <a:solidFill>
                  <a:srgbClr val="0E1A2B"/>
                </a:solidFill>
                <a:latin typeface="Cambria" pitchFamily="34" charset="0"/>
                <a:ea typeface="Cambria" pitchFamily="34" charset="-122"/>
                <a:cs typeface="Cambria" pitchFamily="34" charset="-120"/>
              </a:rPr>
              <a:t>Classical vs modern</a:t>
            </a:r>
            <a:endParaRPr lang="en-US" sz="1600" dirty="0"/>
          </a:p>
        </p:txBody>
      </p:sp>
      <p:sp>
        <p:nvSpPr>
          <p:cNvPr id="18" name="Text 15"/>
          <p:cNvSpPr txBox="1"/>
          <p:nvPr/>
        </p:nvSpPr>
        <p:spPr>
          <a:xfrm>
            <a:off x="4572000" y="4069080"/>
            <a:ext cx="4023360" cy="548640"/>
          </a:xfrm>
          <a:prstGeom prst="rect">
            <a:avLst/>
          </a:prstGeom>
          <a:noFill/>
          <a:ln/>
        </p:spPr>
        <p:txBody>
          <a:bodyPr wrap="square" lIns="0" tIns="0" rIns="0" bIns="0" rtlCol="0" anchor="t"/>
          <a:lstStyle/>
          <a:p>
            <a:pPr indent="0" marL="0">
              <a:buNone/>
            </a:pPr>
            <a:r>
              <a:rPr lang="en-US" sz="1200" dirty="0">
                <a:solidFill>
                  <a:srgbClr val="1C2833"/>
                </a:solidFill>
                <a:latin typeface="Calibri" pitchFamily="34" charset="0"/>
                <a:ea typeface="Calibri" pitchFamily="34" charset="-122"/>
                <a:cs typeface="Calibri" pitchFamily="34" charset="-120"/>
              </a:rPr>
              <a:t>Why diffusion-based standards resist attacks that break classical substitution.</a:t>
            </a:r>
            <a:endParaRPr lang="en-US" sz="1200" dirty="0"/>
          </a:p>
        </p:txBody>
      </p:sp>
      <p:sp>
        <p:nvSpPr>
          <p:cNvPr id="19" name="Text 16"/>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5B6B7B"/>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548640" y="292608"/>
            <a:ext cx="8046720" cy="228600"/>
          </a:xfrm>
          <a:prstGeom prst="rect">
            <a:avLst/>
          </a:prstGeom>
          <a:noFill/>
          <a:ln/>
        </p:spPr>
        <p:txBody>
          <a:bodyPr wrap="square" lIns="0" tIns="0" rIns="0" bIns="0" rtlCol="0" anchor="ctr"/>
          <a:lstStyle/>
          <a:p>
            <a:pPr indent="0" marL="0">
              <a:buNone/>
            </a:pPr>
            <a:r>
              <a:rPr lang="en-US" sz="1100" b="1" spc="300" kern="0" dirty="0">
                <a:solidFill>
                  <a:srgbClr val="F4B942"/>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4" name="Text 2"/>
          <p:cNvSpPr txBox="1"/>
          <p:nvPr/>
        </p:nvSpPr>
        <p:spPr>
          <a:xfrm>
            <a:off x="548640" y="1280160"/>
            <a:ext cx="3840480" cy="365760"/>
          </a:xfrm>
          <a:prstGeom prst="rect">
            <a:avLst/>
          </a:prstGeom>
          <a:noFill/>
          <a:ln/>
        </p:spPr>
        <p:txBody>
          <a:bodyPr wrap="square" lIns="0" tIns="0" rIns="0" bIns="0" rtlCol="0" anchor="ctr"/>
          <a:lstStyle/>
          <a:p>
            <a:pPr indent="0" marL="0">
              <a:buNone/>
            </a:pPr>
            <a:r>
              <a:rPr lang="en-US" sz="2000" b="1" dirty="0">
                <a:solidFill>
                  <a:srgbClr val="F4B942"/>
                </a:solidFill>
                <a:latin typeface="Cambria" pitchFamily="34" charset="0"/>
                <a:ea typeface="Cambria" pitchFamily="34" charset="-122"/>
                <a:cs typeface="Cambria" pitchFamily="34" charset="-120"/>
              </a:rPr>
              <a:t>Conclusion</a:t>
            </a:r>
            <a:endParaRPr lang="en-US" sz="2000" dirty="0"/>
          </a:p>
        </p:txBody>
      </p:sp>
      <p:sp>
        <p:nvSpPr>
          <p:cNvPr id="5" name="Text 3"/>
          <p:cNvSpPr txBox="1"/>
          <p:nvPr/>
        </p:nvSpPr>
        <p:spPr>
          <a:xfrm>
            <a:off x="548640" y="1737360"/>
            <a:ext cx="3840480" cy="2651760"/>
          </a:xfrm>
          <a:prstGeom prst="rect">
            <a:avLst/>
          </a:prstGeom>
          <a:noFill/>
          <a:ln/>
        </p:spPr>
        <p:txBody>
          <a:bodyPr wrap="square" lIns="0" tIns="0" rIns="0" bIns="0" rtlCol="0" anchor="t"/>
          <a:lstStyle/>
          <a:p>
            <a:pPr indent="0" marL="0">
              <a:buNone/>
            </a:pPr>
            <a:r>
              <a:rPr lang="en-US" sz="1500" dirty="0">
                <a:solidFill>
                  <a:srgbClr val="DCE6F0"/>
                </a:solidFill>
                <a:latin typeface="Calibri" pitchFamily="34" charset="0"/>
                <a:ea typeface="Calibri" pitchFamily="34" charset="-122"/>
                <a:cs typeface="Calibri" pitchFamily="34" charset="-120"/>
              </a:rPr>
              <a:t>The project delivered a fully functional cryptographic analysis and transformation tool. It proved that classical ciphers can be dismantled with automated statistical frequency checks, and it underlines why modern cryptography relies on complex mathematical rounds, nonces and diffusion blocks.</a:t>
            </a:r>
            <a:endParaRPr lang="en-US" sz="1500" dirty="0"/>
          </a:p>
        </p:txBody>
      </p:sp>
      <p:sp>
        <p:nvSpPr>
          <p:cNvPr id="6" name="Text 4"/>
          <p:cNvSpPr txBox="1"/>
          <p:nvPr/>
        </p:nvSpPr>
        <p:spPr>
          <a:xfrm>
            <a:off x="4846320" y="1280160"/>
            <a:ext cx="3749040" cy="365760"/>
          </a:xfrm>
          <a:prstGeom prst="rect">
            <a:avLst/>
          </a:prstGeom>
          <a:noFill/>
          <a:ln/>
        </p:spPr>
        <p:txBody>
          <a:bodyPr wrap="square" lIns="0" tIns="0" rIns="0" bIns="0" rtlCol="0" anchor="ctr"/>
          <a:lstStyle/>
          <a:p>
            <a:pPr indent="0" marL="0">
              <a:buNone/>
            </a:pPr>
            <a:r>
              <a:rPr lang="en-US" sz="2000" b="1" dirty="0">
                <a:solidFill>
                  <a:srgbClr val="F4B942"/>
                </a:solidFill>
                <a:latin typeface="Cambria" pitchFamily="34" charset="0"/>
                <a:ea typeface="Cambria" pitchFamily="34" charset="-122"/>
                <a:cs typeface="Cambria" pitchFamily="34" charset="-120"/>
              </a:rPr>
              <a:t>Future scope</a:t>
            </a:r>
            <a:endParaRPr lang="en-US" sz="2000" dirty="0"/>
          </a:p>
        </p:txBody>
      </p:sp>
      <p:sp>
        <p:nvSpPr>
          <p:cNvPr id="7" name="Shape 5"/>
          <p:cNvSpPr/>
          <p:nvPr/>
        </p:nvSpPr>
        <p:spPr>
          <a:xfrm>
            <a:off x="4846320" y="1783080"/>
            <a:ext cx="3749040" cy="777240"/>
          </a:xfrm>
          <a:prstGeom prst="roundRect">
            <a:avLst>
              <a:gd name="adj" fmla="val 11765"/>
            </a:avLst>
          </a:prstGeom>
          <a:solidFill>
            <a:srgbClr val="16283F"/>
          </a:solidFill>
          <a:ln w="12700">
            <a:solidFill>
              <a:srgbClr val="2B4463"/>
            </a:solidFill>
            <a:prstDash val="solid"/>
          </a:ln>
        </p:spPr>
      </p:sp>
      <p:sp>
        <p:nvSpPr>
          <p:cNvPr id="8" name="Shape 6"/>
          <p:cNvSpPr/>
          <p:nvPr/>
        </p:nvSpPr>
        <p:spPr>
          <a:xfrm>
            <a:off x="5029200" y="1956816"/>
            <a:ext cx="429768" cy="429768"/>
          </a:xfrm>
          <a:prstGeom prst="ellipse">
            <a:avLst/>
          </a:prstGeom>
          <a:solidFill>
            <a:srgbClr val="2A9D8F"/>
          </a:solidFill>
          <a:ln w="12700">
            <a:solidFill>
              <a:srgbClr val="2A9D8F"/>
            </a:solidFill>
            <a:prstDash val="solid"/>
          </a:ln>
        </p:spPr>
      </p:sp>
      <p:pic>
        <p:nvPicPr>
          <p:cNvPr id="9" name="Image 0" descr="preencoded.png">    </p:cNvPr>
          <p:cNvPicPr>
            <a:picLocks noChangeAspect="1"/>
          </p:cNvPicPr>
          <p:nvPr/>
        </p:nvPicPr>
        <p:blipFill>
          <a:blip r:embed="rId1"/>
          <a:stretch>
            <a:fillRect/>
          </a:stretch>
        </p:blipFill>
        <p:spPr>
          <a:xfrm>
            <a:off x="5136642" y="2064258"/>
            <a:ext cx="214884" cy="214884"/>
          </a:xfrm>
          <a:prstGeom prst="rect">
            <a:avLst/>
          </a:prstGeom>
        </p:spPr>
      </p:pic>
      <p:sp>
        <p:nvSpPr>
          <p:cNvPr id="10" name="Text 7"/>
          <p:cNvSpPr txBox="1"/>
          <p:nvPr/>
        </p:nvSpPr>
        <p:spPr>
          <a:xfrm>
            <a:off x="5623560" y="1828800"/>
            <a:ext cx="2834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Frequency curves added directly into the GUI</a:t>
            </a:r>
            <a:endParaRPr lang="en-US" sz="1300" dirty="0"/>
          </a:p>
        </p:txBody>
      </p:sp>
      <p:sp>
        <p:nvSpPr>
          <p:cNvPr id="11" name="Shape 8"/>
          <p:cNvSpPr/>
          <p:nvPr/>
        </p:nvSpPr>
        <p:spPr>
          <a:xfrm>
            <a:off x="4846320" y="2697480"/>
            <a:ext cx="3749040" cy="777240"/>
          </a:xfrm>
          <a:prstGeom prst="roundRect">
            <a:avLst>
              <a:gd name="adj" fmla="val 11765"/>
            </a:avLst>
          </a:prstGeom>
          <a:solidFill>
            <a:srgbClr val="16283F"/>
          </a:solidFill>
          <a:ln w="12700">
            <a:solidFill>
              <a:srgbClr val="2B4463"/>
            </a:solidFill>
            <a:prstDash val="solid"/>
          </a:ln>
        </p:spPr>
      </p:sp>
      <p:sp>
        <p:nvSpPr>
          <p:cNvPr id="12" name="Shape 9"/>
          <p:cNvSpPr/>
          <p:nvPr/>
        </p:nvSpPr>
        <p:spPr>
          <a:xfrm>
            <a:off x="5029200" y="2871216"/>
            <a:ext cx="429768" cy="429768"/>
          </a:xfrm>
          <a:prstGeom prst="ellipse">
            <a:avLst/>
          </a:prstGeom>
          <a:solidFill>
            <a:srgbClr val="2A9D8F"/>
          </a:solidFill>
          <a:ln w="12700">
            <a:solidFill>
              <a:srgbClr val="2A9D8F"/>
            </a:solidFill>
            <a:prstDash val="solid"/>
          </a:ln>
        </p:spPr>
      </p:sp>
      <p:pic>
        <p:nvPicPr>
          <p:cNvPr id="13" name="Image 1" descr="preencoded.png">    </p:cNvPr>
          <p:cNvPicPr>
            <a:picLocks noChangeAspect="1"/>
          </p:cNvPicPr>
          <p:nvPr/>
        </p:nvPicPr>
        <p:blipFill>
          <a:blip r:embed="rId2"/>
          <a:stretch>
            <a:fillRect/>
          </a:stretch>
        </p:blipFill>
        <p:spPr>
          <a:xfrm>
            <a:off x="5136642" y="2978658"/>
            <a:ext cx="214884" cy="214884"/>
          </a:xfrm>
          <a:prstGeom prst="rect">
            <a:avLst/>
          </a:prstGeom>
        </p:spPr>
      </p:pic>
      <p:sp>
        <p:nvSpPr>
          <p:cNvPr id="14" name="Text 10"/>
          <p:cNvSpPr txBox="1"/>
          <p:nvPr/>
        </p:nvSpPr>
        <p:spPr>
          <a:xfrm>
            <a:off x="5623560" y="2743200"/>
            <a:ext cx="2834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More classical ciphers such as Playfair and Hill</a:t>
            </a:r>
            <a:endParaRPr lang="en-US" sz="1300" dirty="0"/>
          </a:p>
        </p:txBody>
      </p:sp>
      <p:sp>
        <p:nvSpPr>
          <p:cNvPr id="15" name="Shape 11"/>
          <p:cNvSpPr/>
          <p:nvPr/>
        </p:nvSpPr>
        <p:spPr>
          <a:xfrm>
            <a:off x="4846320" y="3611880"/>
            <a:ext cx="3749040" cy="777240"/>
          </a:xfrm>
          <a:prstGeom prst="roundRect">
            <a:avLst>
              <a:gd name="adj" fmla="val 11765"/>
            </a:avLst>
          </a:prstGeom>
          <a:solidFill>
            <a:srgbClr val="16283F"/>
          </a:solidFill>
          <a:ln w="12700">
            <a:solidFill>
              <a:srgbClr val="2B4463"/>
            </a:solidFill>
            <a:prstDash val="solid"/>
          </a:ln>
        </p:spPr>
      </p:sp>
      <p:sp>
        <p:nvSpPr>
          <p:cNvPr id="16" name="Shape 12"/>
          <p:cNvSpPr/>
          <p:nvPr/>
        </p:nvSpPr>
        <p:spPr>
          <a:xfrm>
            <a:off x="5029200" y="3785616"/>
            <a:ext cx="429768" cy="429768"/>
          </a:xfrm>
          <a:prstGeom prst="ellipse">
            <a:avLst/>
          </a:prstGeom>
          <a:solidFill>
            <a:srgbClr val="2A9D8F"/>
          </a:solidFill>
          <a:ln w="12700">
            <a:solidFill>
              <a:srgbClr val="2A9D8F"/>
            </a:solidFill>
            <a:prstDash val="solid"/>
          </a:ln>
        </p:spPr>
      </p:sp>
      <p:pic>
        <p:nvPicPr>
          <p:cNvPr id="17" name="Image 2" descr="preencoded.png">    </p:cNvPr>
          <p:cNvPicPr>
            <a:picLocks noChangeAspect="1"/>
          </p:cNvPicPr>
          <p:nvPr/>
        </p:nvPicPr>
        <p:blipFill>
          <a:blip r:embed="rId3"/>
          <a:stretch>
            <a:fillRect/>
          </a:stretch>
        </p:blipFill>
        <p:spPr>
          <a:xfrm>
            <a:off x="5136642" y="3893058"/>
            <a:ext cx="214884" cy="214884"/>
          </a:xfrm>
          <a:prstGeom prst="rect">
            <a:avLst/>
          </a:prstGeom>
        </p:spPr>
      </p:pic>
      <p:sp>
        <p:nvSpPr>
          <p:cNvPr id="18" name="Text 13"/>
          <p:cNvSpPr txBox="1"/>
          <p:nvPr/>
        </p:nvSpPr>
        <p:spPr>
          <a:xfrm>
            <a:off x="5623560" y="3657600"/>
            <a:ext cx="2834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Educational modules illustrating AES round transformations</a:t>
            </a:r>
            <a:endParaRPr lang="en-US" sz="1300" dirty="0"/>
          </a:p>
        </p:txBody>
      </p:sp>
      <p:sp>
        <p:nvSpPr>
          <p:cNvPr id="19" name="Text 14"/>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8FA3B8"/>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20" name="Text 15"/>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548640" y="1965960"/>
            <a:ext cx="8046720" cy="365760"/>
          </a:xfrm>
          <a:prstGeom prst="rect">
            <a:avLst/>
          </a:prstGeom>
          <a:noFill/>
          <a:ln/>
        </p:spPr>
        <p:txBody>
          <a:bodyPr wrap="square" lIns="0" tIns="0" rIns="0" bIns="0" rtlCol="0" anchor="ctr"/>
          <a:lstStyle/>
          <a:p>
            <a:pPr indent="0" marL="0">
              <a:buNone/>
            </a:pPr>
            <a:r>
              <a:rPr lang="en-US" sz="1600" dirty="0">
                <a:solidFill>
                  <a:srgbClr val="F4B942"/>
                </a:solidFill>
                <a:latin typeface="Calibri" pitchFamily="34" charset="0"/>
                <a:ea typeface="Calibri" pitchFamily="34" charset="-122"/>
                <a:cs typeface="Calibri" pitchFamily="34" charset="-120"/>
              </a:rPr>
              <a:t>Aharnish Dhaw Kumar  |  Labmentix Cybersecurity Training Program</a:t>
            </a:r>
            <a:endParaRPr lang="en-US" sz="1600" dirty="0"/>
          </a:p>
        </p:txBody>
      </p:sp>
      <p:sp>
        <p:nvSpPr>
          <p:cNvPr id="4" name="Text 2"/>
          <p:cNvSpPr txBox="1"/>
          <p:nvPr/>
        </p:nvSpPr>
        <p:spPr>
          <a:xfrm>
            <a:off x="548640" y="2926080"/>
            <a:ext cx="8046720" cy="228600"/>
          </a:xfrm>
          <a:prstGeom prst="rect">
            <a:avLst/>
          </a:prstGeom>
          <a:noFill/>
          <a:ln/>
        </p:spPr>
        <p:txBody>
          <a:bodyPr wrap="square" lIns="0" tIns="0" rIns="0" bIns="0" rtlCol="0" anchor="ctr"/>
          <a:lstStyle/>
          <a:p>
            <a:pPr indent="0" marL="0">
              <a:buNone/>
            </a:pPr>
            <a:r>
              <a:rPr lang="en-US" sz="1000" b="1" spc="300" kern="0" dirty="0">
                <a:solidFill>
                  <a:srgbClr val="8FA3B8"/>
                </a:solidFill>
                <a:latin typeface="Calibri" pitchFamily="34" charset="0"/>
                <a:ea typeface="Calibri" pitchFamily="34" charset="-122"/>
                <a:cs typeface="Calibri" pitchFamily="34" charset="-120"/>
              </a:rPr>
              <a:t>REFERENCES</a:t>
            </a:r>
            <a:endParaRPr lang="en-US" sz="1000" dirty="0"/>
          </a:p>
        </p:txBody>
      </p:sp>
      <p:sp>
        <p:nvSpPr>
          <p:cNvPr id="5" name="Text 3"/>
          <p:cNvSpPr txBox="1"/>
          <p:nvPr/>
        </p:nvSpPr>
        <p:spPr>
          <a:xfrm>
            <a:off x="548640" y="3200400"/>
            <a:ext cx="8046720" cy="1188720"/>
          </a:xfrm>
          <a:prstGeom prst="rect">
            <a:avLst/>
          </a:prstGeom>
          <a:noFill/>
          <a:ln/>
        </p:spPr>
        <p:txBody>
          <a:bodyPr wrap="square" lIns="0" tIns="0" rIns="0" bIns="0" rtlCol="0" anchor="t"/>
          <a:lstStyle/>
          <a:p>
            <a:pPr indent="0" marL="0">
              <a:spcAft>
                <a:spcPts val="500"/>
              </a:spcAft>
              <a:buNone/>
            </a:pPr>
            <a:r>
              <a:rPr lang="en-US" sz="1200" dirty="0">
                <a:solidFill>
                  <a:srgbClr val="C9D6E3"/>
                </a:solidFill>
                <a:latin typeface="Calibri" pitchFamily="34" charset="0"/>
                <a:ea typeface="Calibri" pitchFamily="34" charset="-122"/>
                <a:cs typeface="Calibri" pitchFamily="34" charset="-120"/>
              </a:rPr>
              <a:t>[1] Labmentix Cybersecurity Training Program: Project Submission Guidelines</a:t>
            </a:r>
            <a:endParaRPr lang="en-US" sz="1200" dirty="0"/>
          </a:p>
          <a:p>
            <a:pPr indent="0" marL="0">
              <a:spcAft>
                <a:spcPts val="500"/>
              </a:spcAft>
              <a:buNone/>
            </a:pPr>
            <a:r>
              <a:rPr lang="en-US" sz="1200" dirty="0">
                <a:solidFill>
                  <a:srgbClr val="C9D6E3"/>
                </a:solidFill>
                <a:latin typeface="Calibri" pitchFamily="34" charset="0"/>
                <a:ea typeface="Calibri" pitchFamily="34" charset="-122"/>
                <a:cs typeface="Calibri" pitchFamily="34" charset="-120"/>
              </a:rPr>
              <a:t>[2] Python Standard Library Documentation: collections and tkinter, docs.python.org/3/</a:t>
            </a:r>
            <a:endParaRPr lang="en-US" sz="1200" dirty="0"/>
          </a:p>
          <a:p>
            <a:pPr indent="0" marL="0">
              <a:spcAft>
                <a:spcPts val="500"/>
              </a:spcAft>
              <a:buNone/>
            </a:pPr>
            <a:r>
              <a:rPr lang="en-US" sz="1200" dirty="0">
                <a:solidFill>
                  <a:srgbClr val="C9D6E3"/>
                </a:solidFill>
                <a:latin typeface="Calibri" pitchFamily="34" charset="0"/>
                <a:ea typeface="Calibri" pitchFamily="34" charset="-122"/>
                <a:cs typeface="Calibri" pitchFamily="34" charset="-120"/>
              </a:rPr>
              <a:t>[3] Classical cryptography and cryptanalysis textbooks (Kasiski examination, Index of Coincidence, chi-squared statistics)</a:t>
            </a:r>
            <a:endParaRPr lang="en-US" sz="1200" dirty="0"/>
          </a:p>
        </p:txBody>
      </p:sp>
      <p:sp>
        <p:nvSpPr>
          <p:cNvPr id="6" name="Text 4"/>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8FA3B8"/>
                </a:solidFill>
                <a:latin typeface="Calibri" pitchFamily="34" charset="0"/>
                <a:ea typeface="Calibri" pitchFamily="34" charset="-122"/>
                <a:cs typeface="Calibri" pitchFamily="34" charset="-120"/>
              </a:rPr>
              <a:t>Caesar &amp; Vigenère Cipher Tool  |  Aharnish Dhaw Kumar</a:t>
            </a:r>
            <a:endParaRPr lang="en-US" sz="900" dirty="0"/>
          </a:p>
        </p:txBody>
      </p:sp>
      <p:sp>
        <p:nvSpPr>
          <p:cNvPr id="7" name="Text 5"/>
          <p:cNvSpPr txBox="1"/>
          <p:nvPr/>
        </p:nvSpPr>
        <p:spPr>
          <a:xfrm>
            <a:off x="7680960" y="4773168"/>
            <a:ext cx="914400" cy="22860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Caesar and Vigenere Cipher Tool</dc:title>
  <dc:subject>PptxGenJS Presentation</dc:subject>
  <dc:creator>Aharnish Dhaw Kumar</dc:creator>
  <cp:lastModifiedBy>Aharnish Dhaw Kumar</cp:lastModifiedBy>
  <cp:revision>1</cp:revision>
  <dcterms:created xsi:type="dcterms:W3CDTF">2026-09-19T09:14:54Z</dcterms:created>
  <dcterms:modified xsi:type="dcterms:W3CDTF">2026-09-19T09:14:54Z</dcterms:modified>
</cp:coreProperties>
</file>